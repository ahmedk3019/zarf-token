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Montserrat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4.jpg"/><Relationship Id="rId5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3"/>
          <p:cNvGrpSpPr/>
          <p:nvPr/>
        </p:nvGrpSpPr>
        <p:grpSpPr>
          <a:xfrm>
            <a:off x="2172135" y="2337613"/>
            <a:ext cx="6031608" cy="6031608"/>
            <a:chOff x="0" y="0"/>
            <a:chExt cx="812800" cy="8128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5764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3414845" y="1188931"/>
            <a:ext cx="1991544" cy="1991544"/>
            <a:chOff x="0" y="0"/>
            <a:chExt cx="812800" cy="8128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13043659" y="4214522"/>
            <a:ext cx="3185721" cy="3185721"/>
            <a:chOff x="0" y="0"/>
            <a:chExt cx="812800" cy="812800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3"/>
          <p:cNvSpPr txBox="1"/>
          <p:nvPr/>
        </p:nvSpPr>
        <p:spPr>
          <a:xfrm>
            <a:off x="3055315" y="4706744"/>
            <a:ext cx="12177370" cy="1302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8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Zarf Token</a:t>
            </a: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4163679" y="7797695"/>
            <a:ext cx="884434" cy="884434"/>
            <a:chOff x="0" y="0"/>
            <a:chExt cx="812800" cy="812800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3"/>
          <p:cNvGrpSpPr/>
          <p:nvPr/>
        </p:nvGrpSpPr>
        <p:grpSpPr>
          <a:xfrm>
            <a:off x="12744482" y="1504605"/>
            <a:ext cx="1892038" cy="1892038"/>
            <a:chOff x="0" y="0"/>
            <a:chExt cx="812800" cy="812800"/>
          </a:xfrm>
        </p:grpSpPr>
        <p:sp>
          <p:nvSpPr>
            <p:cNvPr id="102" name="Google Shape;102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3"/>
          <p:cNvGrpSpPr/>
          <p:nvPr/>
        </p:nvGrpSpPr>
        <p:grpSpPr>
          <a:xfrm>
            <a:off x="15344946" y="6400189"/>
            <a:ext cx="884434" cy="884434"/>
            <a:chOff x="0" y="0"/>
            <a:chExt cx="812800" cy="812800"/>
          </a:xfrm>
        </p:grpSpPr>
        <p:sp>
          <p:nvSpPr>
            <p:cNvPr id="105" name="Google Shape;10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3"/>
          <p:cNvGrpSpPr/>
          <p:nvPr/>
        </p:nvGrpSpPr>
        <p:grpSpPr>
          <a:xfrm>
            <a:off x="637067" y="3608432"/>
            <a:ext cx="3070135" cy="3070135"/>
            <a:chOff x="0" y="0"/>
            <a:chExt cx="812800" cy="812800"/>
          </a:xfrm>
        </p:grpSpPr>
        <p:sp>
          <p:nvSpPr>
            <p:cNvPr id="108" name="Google Shape;10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3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16774314" y="9473025"/>
            <a:ext cx="354591" cy="241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pic>
        <p:nvPicPr>
          <p:cNvPr descr="A blue and white logo&#10;&#10;Description automatically generated" id="112" name="Google Shape;1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 u="none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123" name="Google Shape;123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4"/>
          <p:cNvSpPr txBox="1"/>
          <p:nvPr/>
        </p:nvSpPr>
        <p:spPr>
          <a:xfrm>
            <a:off x="8503923" y="7024254"/>
            <a:ext cx="794653" cy="84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14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4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5966173" y="1938845"/>
            <a:ext cx="6355654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/>
          </a:p>
        </p:txBody>
      </p:sp>
      <p:pic>
        <p:nvPicPr>
          <p:cNvPr descr="A blue and white logo&#10;&#10;Description automatically generated"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2438400" y="3684128"/>
            <a:ext cx="13411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b="1" lang="en-US" sz="44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Added 5 core features to enhance Zarf Token utility</a:t>
            </a:r>
            <a:endParaRPr/>
          </a:p>
        </p:txBody>
      </p:sp>
      <p:grpSp>
        <p:nvGrpSpPr>
          <p:cNvPr id="135" name="Google Shape;135;p14"/>
          <p:cNvGrpSpPr/>
          <p:nvPr/>
        </p:nvGrpSpPr>
        <p:grpSpPr>
          <a:xfrm>
            <a:off x="5105400" y="4554270"/>
            <a:ext cx="2872738" cy="2609323"/>
            <a:chOff x="3816852" y="2905020"/>
            <a:chExt cx="1462770" cy="1462770"/>
          </a:xfrm>
        </p:grpSpPr>
        <p:sp>
          <p:nvSpPr>
            <p:cNvPr id="136" name="Google Shape;136;p14"/>
            <p:cNvSpPr/>
            <p:nvPr/>
          </p:nvSpPr>
          <p:spPr>
            <a:xfrm>
              <a:off x="3890305" y="2978472"/>
              <a:ext cx="1315865" cy="1315866"/>
            </a:xfrm>
            <a:prstGeom prst="flowChartConnector">
              <a:avLst/>
            </a:prstGeom>
            <a:solidFill>
              <a:srgbClr val="2409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3984854" y="3084384"/>
              <a:ext cx="1104042" cy="1104042"/>
            </a:xfrm>
            <a:prstGeom prst="flowChartConnector">
              <a:avLst/>
            </a:prstGeom>
            <a:solidFill>
              <a:srgbClr val="EDE5FF"/>
            </a:solidFill>
            <a:ln cap="flat" cmpd="sng" w="12700">
              <a:solidFill>
                <a:srgbClr val="96979D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254000" rotWithShape="0" algn="t" dir="5400000" dist="76200">
                <a:srgbClr val="000000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3816852" y="2905020"/>
              <a:ext cx="1462770" cy="1462770"/>
            </a:xfrm>
            <a:prstGeom prst="flowChartConnector">
              <a:avLst/>
            </a:prstGeom>
            <a:noFill/>
            <a:ln cap="flat" cmpd="sng" w="19050">
              <a:solidFill>
                <a:srgbClr val="7D7D7D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14"/>
          <p:cNvSpPr txBox="1"/>
          <p:nvPr/>
        </p:nvSpPr>
        <p:spPr>
          <a:xfrm>
            <a:off x="5577402" y="5432593"/>
            <a:ext cx="192873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My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Reservations</a:t>
            </a:r>
            <a:endParaRPr/>
          </a:p>
        </p:txBody>
      </p:sp>
      <p:grpSp>
        <p:nvGrpSpPr>
          <p:cNvPr id="140" name="Google Shape;140;p14"/>
          <p:cNvGrpSpPr/>
          <p:nvPr/>
        </p:nvGrpSpPr>
        <p:grpSpPr>
          <a:xfrm>
            <a:off x="7675789" y="6707930"/>
            <a:ext cx="2872738" cy="2609323"/>
            <a:chOff x="3816852" y="2905020"/>
            <a:chExt cx="1462770" cy="1462770"/>
          </a:xfrm>
        </p:grpSpPr>
        <p:sp>
          <p:nvSpPr>
            <p:cNvPr id="141" name="Google Shape;141;p14"/>
            <p:cNvSpPr/>
            <p:nvPr/>
          </p:nvSpPr>
          <p:spPr>
            <a:xfrm>
              <a:off x="3890305" y="2978472"/>
              <a:ext cx="1315865" cy="1315866"/>
            </a:xfrm>
            <a:prstGeom prst="flowChartConnector">
              <a:avLst/>
            </a:prstGeom>
            <a:solidFill>
              <a:srgbClr val="2409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984854" y="3084384"/>
              <a:ext cx="1104042" cy="1104042"/>
            </a:xfrm>
            <a:prstGeom prst="flowChartConnector">
              <a:avLst/>
            </a:prstGeom>
            <a:solidFill>
              <a:srgbClr val="EDE5FF"/>
            </a:solidFill>
            <a:ln cap="flat" cmpd="sng" w="12700">
              <a:solidFill>
                <a:srgbClr val="96979D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254000" rotWithShape="0" algn="t" dir="5400000" dist="76200">
                <a:srgbClr val="000000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816852" y="2905020"/>
              <a:ext cx="1462770" cy="1462770"/>
            </a:xfrm>
            <a:prstGeom prst="flowChartConnector">
              <a:avLst/>
            </a:prstGeom>
            <a:noFill/>
            <a:ln cap="flat" cmpd="sng" w="19050">
              <a:solidFill>
                <a:srgbClr val="7D7D7D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14"/>
          <p:cNvSpPr txBox="1"/>
          <p:nvPr/>
        </p:nvSpPr>
        <p:spPr>
          <a:xfrm>
            <a:off x="8121018" y="7657931"/>
            <a:ext cx="192873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Cancelling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Reservations</a:t>
            </a:r>
            <a:endParaRPr/>
          </a:p>
        </p:txBody>
      </p:sp>
      <p:grpSp>
        <p:nvGrpSpPr>
          <p:cNvPr id="145" name="Google Shape;145;p14"/>
          <p:cNvGrpSpPr/>
          <p:nvPr/>
        </p:nvGrpSpPr>
        <p:grpSpPr>
          <a:xfrm>
            <a:off x="10351247" y="4481875"/>
            <a:ext cx="2872738" cy="2609323"/>
            <a:chOff x="3816852" y="2905020"/>
            <a:chExt cx="1462770" cy="1462770"/>
          </a:xfrm>
        </p:grpSpPr>
        <p:sp>
          <p:nvSpPr>
            <p:cNvPr id="146" name="Google Shape;146;p14"/>
            <p:cNvSpPr/>
            <p:nvPr/>
          </p:nvSpPr>
          <p:spPr>
            <a:xfrm>
              <a:off x="3890305" y="2978472"/>
              <a:ext cx="1315865" cy="1315866"/>
            </a:xfrm>
            <a:prstGeom prst="flowChartConnector">
              <a:avLst/>
            </a:prstGeom>
            <a:solidFill>
              <a:srgbClr val="2409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3984854" y="3084384"/>
              <a:ext cx="1104042" cy="1104042"/>
            </a:xfrm>
            <a:prstGeom prst="flowChartConnector">
              <a:avLst/>
            </a:prstGeom>
            <a:solidFill>
              <a:srgbClr val="EDE5FF"/>
            </a:solidFill>
            <a:ln cap="flat" cmpd="sng" w="12700">
              <a:solidFill>
                <a:srgbClr val="96979D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254000" rotWithShape="0" algn="t" dir="5400000" dist="76200">
                <a:srgbClr val="000000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3816852" y="2905020"/>
              <a:ext cx="1462770" cy="1462770"/>
            </a:xfrm>
            <a:prstGeom prst="flowChartConnector">
              <a:avLst/>
            </a:prstGeom>
            <a:noFill/>
            <a:ln cap="flat" cmpd="sng" w="19050">
              <a:solidFill>
                <a:srgbClr val="7D7D7D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4"/>
          <p:cNvSpPr txBox="1"/>
          <p:nvPr/>
        </p:nvSpPr>
        <p:spPr>
          <a:xfrm>
            <a:off x="11014620" y="5408028"/>
            <a:ext cx="15007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Recovery</a:t>
            </a:r>
            <a:endParaRPr/>
          </a:p>
        </p:txBody>
      </p:sp>
      <p:grpSp>
        <p:nvGrpSpPr>
          <p:cNvPr id="150" name="Google Shape;150;p14"/>
          <p:cNvGrpSpPr/>
          <p:nvPr/>
        </p:nvGrpSpPr>
        <p:grpSpPr>
          <a:xfrm>
            <a:off x="12908605" y="6707213"/>
            <a:ext cx="2872738" cy="2609323"/>
            <a:chOff x="3816852" y="2905020"/>
            <a:chExt cx="1462770" cy="1462770"/>
          </a:xfrm>
        </p:grpSpPr>
        <p:sp>
          <p:nvSpPr>
            <p:cNvPr id="151" name="Google Shape;151;p14"/>
            <p:cNvSpPr/>
            <p:nvPr/>
          </p:nvSpPr>
          <p:spPr>
            <a:xfrm>
              <a:off x="3890305" y="2978472"/>
              <a:ext cx="1315865" cy="1315866"/>
            </a:xfrm>
            <a:prstGeom prst="flowChartConnector">
              <a:avLst/>
            </a:prstGeom>
            <a:solidFill>
              <a:srgbClr val="2409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3984854" y="3084384"/>
              <a:ext cx="1104042" cy="1104042"/>
            </a:xfrm>
            <a:prstGeom prst="flowChartConnector">
              <a:avLst/>
            </a:prstGeom>
            <a:solidFill>
              <a:srgbClr val="EDE5FF"/>
            </a:solidFill>
            <a:ln cap="flat" cmpd="sng" w="12700">
              <a:solidFill>
                <a:srgbClr val="96979D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254000" rotWithShape="0" algn="t" dir="5400000" dist="76200">
                <a:srgbClr val="000000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3816852" y="2905020"/>
              <a:ext cx="1462770" cy="1462770"/>
            </a:xfrm>
            <a:prstGeom prst="flowChartConnector">
              <a:avLst/>
            </a:prstGeom>
            <a:noFill/>
            <a:ln cap="flat" cmpd="sng" w="19050">
              <a:solidFill>
                <a:srgbClr val="7D7D7D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4"/>
          <p:cNvSpPr txBox="1"/>
          <p:nvPr/>
        </p:nvSpPr>
        <p:spPr>
          <a:xfrm>
            <a:off x="13391027" y="7605475"/>
            <a:ext cx="19078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Free-Spot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/>
          </a:p>
        </p:txBody>
      </p:sp>
      <p:grpSp>
        <p:nvGrpSpPr>
          <p:cNvPr id="155" name="Google Shape;155;p14"/>
          <p:cNvGrpSpPr/>
          <p:nvPr/>
        </p:nvGrpSpPr>
        <p:grpSpPr>
          <a:xfrm>
            <a:off x="2398927" y="6622402"/>
            <a:ext cx="2872738" cy="2609323"/>
            <a:chOff x="3816852" y="2905020"/>
            <a:chExt cx="1462770" cy="1462770"/>
          </a:xfrm>
        </p:grpSpPr>
        <p:sp>
          <p:nvSpPr>
            <p:cNvPr id="156" name="Google Shape;156;p14"/>
            <p:cNvSpPr/>
            <p:nvPr/>
          </p:nvSpPr>
          <p:spPr>
            <a:xfrm>
              <a:off x="3890305" y="2978472"/>
              <a:ext cx="1315865" cy="1315866"/>
            </a:xfrm>
            <a:prstGeom prst="flowChartConnector">
              <a:avLst/>
            </a:prstGeom>
            <a:solidFill>
              <a:srgbClr val="2409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3984854" y="3084384"/>
              <a:ext cx="1104042" cy="1104042"/>
            </a:xfrm>
            <a:prstGeom prst="flowChartConnector">
              <a:avLst/>
            </a:prstGeom>
            <a:solidFill>
              <a:srgbClr val="EDE5FF"/>
            </a:solidFill>
            <a:ln cap="flat" cmpd="sng" w="12700">
              <a:solidFill>
                <a:srgbClr val="96979D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254000" rotWithShape="0" algn="t" dir="5400000" dist="76200">
                <a:srgbClr val="000000">
                  <a:alpha val="5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3816852" y="2905020"/>
              <a:ext cx="1462770" cy="1462770"/>
            </a:xfrm>
            <a:prstGeom prst="flowChartConnector">
              <a:avLst/>
            </a:prstGeom>
            <a:noFill/>
            <a:ln cap="flat" cmpd="sng" w="19050">
              <a:solidFill>
                <a:srgbClr val="7D7D7D"/>
              </a:solidFill>
              <a:prstDash val="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14"/>
          <p:cNvSpPr txBox="1"/>
          <p:nvPr/>
        </p:nvSpPr>
        <p:spPr>
          <a:xfrm>
            <a:off x="3143568" y="7657931"/>
            <a:ext cx="13388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10857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5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169" name="Google Shape;169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5"/>
          <p:cNvSpPr txBox="1"/>
          <p:nvPr/>
        </p:nvSpPr>
        <p:spPr>
          <a:xfrm>
            <a:off x="8503923" y="7024254"/>
            <a:ext cx="794653" cy="84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173" name="Google Shape;173;p1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5" name="Google Shape;175;p15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6828272" y="2699917"/>
            <a:ext cx="4145955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/>
          </a:p>
        </p:txBody>
      </p:sp>
      <p:pic>
        <p:nvPicPr>
          <p:cNvPr descr="A blue and white logo&#10;&#10;Description automatically generated" id="179" name="Google Shape;1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3941091" y="3781177"/>
            <a:ext cx="10405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There is no streamlined way for the Events Office to create or manage sports courts.</a:t>
            </a:r>
            <a:endParaRPr b="0" sz="3600">
              <a:solidFill>
                <a:srgbClr val="2409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1079" y="5580327"/>
            <a:ext cx="6840350" cy="3728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6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189" name="Google Shape;189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6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6"/>
          <p:cNvSpPr txBox="1"/>
          <p:nvPr/>
        </p:nvSpPr>
        <p:spPr>
          <a:xfrm>
            <a:off x="8503923" y="7024254"/>
            <a:ext cx="794653" cy="840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16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196" name="Google Shape;196;p1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6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6828272" y="2699917"/>
            <a:ext cx="4145955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/>
          </a:p>
        </p:txBody>
      </p:sp>
      <p:pic>
        <p:nvPicPr>
          <p:cNvPr descr="A blue and white logo&#10;&#10;Description automatically generated" id="202" name="Google Shape;2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3110459" y="5615337"/>
            <a:ext cx="11391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NOW! </a:t>
            </a:r>
            <a:r>
              <a:rPr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The Events Office can dynamically create and list new courts by simply defining the </a:t>
            </a: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, and uploading an </a:t>
            </a: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3600">
              <a:solidFill>
                <a:srgbClr val="2409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light bulb with a bullet inside&#10;&#10;Description automatically generated" id="205" name="Google Shape;2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8989" y="3680018"/>
            <a:ext cx="1634014" cy="163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0" y="2306583"/>
            <a:ext cx="16774200" cy="7408200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17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212" name="Google Shape;21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215" name="Google Shape;215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17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218" name="Google Shape;218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7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828272" y="2699917"/>
            <a:ext cx="4145955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/>
          </a:p>
        </p:txBody>
      </p:sp>
      <p:pic>
        <p:nvPicPr>
          <p:cNvPr descr="A blue and white logo&#10;&#10;Description automatically generated" id="224" name="Google Shape;2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1359091" y="5860589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Allows the Events Office to simply add new facilities to the system without needing technical support.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6369664" y="5892920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Defines specific attributes like Name and Type to ensure accurate categorization for bookings.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1380237" y="5892497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Immediately makes the new court available on the platform for students to view and book.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6709265" y="5343992"/>
            <a:ext cx="3887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Custom Configuration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1963165" y="5314489"/>
            <a:ext cx="332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Seamless Addition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1960478" y="5382531"/>
            <a:ext cx="34027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Instant Availability</a:t>
            </a:r>
            <a:endParaRPr/>
          </a:p>
        </p:txBody>
      </p:sp>
      <p:pic>
        <p:nvPicPr>
          <p:cNvPr descr="A green check mark in a circle&#10;&#10;Description automatically generated" id="232" name="Google Shape;2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976" y="3924300"/>
            <a:ext cx="2562048" cy="153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0" y="2306583"/>
            <a:ext cx="16774200" cy="7408200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8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239" name="Google Shape;239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242" name="Google Shape;242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8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245" name="Google Shape;245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18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16774314" y="9473025"/>
            <a:ext cx="354591" cy="241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828272" y="2699917"/>
            <a:ext cx="4145955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endParaRPr/>
          </a:p>
        </p:txBody>
      </p:sp>
      <p:pic>
        <p:nvPicPr>
          <p:cNvPr descr="A blue and white logo&#10;&#10;Description automatically generated"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8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3" name="Google Shape;253;p18" title="WhatsApp Image 2025-12-12 at 15.29.30_18bbec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75" y="4198625"/>
            <a:ext cx="8432026" cy="44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8" title="WhatsApp Image 2025-12-12 at 15.29.54_b45734c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2925" y="4198625"/>
            <a:ext cx="8432026" cy="447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19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261" name="Google Shape;261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9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5488545" y="1850707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132600" y="2719750"/>
            <a:ext cx="60228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Reservation</a:t>
            </a:r>
            <a:endParaRPr/>
          </a:p>
        </p:txBody>
      </p:sp>
      <p:grpSp>
        <p:nvGrpSpPr>
          <p:cNvPr id="266" name="Google Shape;266;p19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267" name="Google Shape;26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9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270" name="Google Shape;270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person in a tie&#10;&#10;Description automatically generated" id="272" name="Google Shape;2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438" y="4863588"/>
            <a:ext cx="1649948" cy="1727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question mark on a black background&#10;&#10;Description automatically generated" id="273" name="Google Shape;2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693100">
            <a:off x="3112978" y="4196986"/>
            <a:ext cx="1110136" cy="111013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/>
        </p:nvSpPr>
        <p:spPr>
          <a:xfrm>
            <a:off x="3772718" y="5120747"/>
            <a:ext cx="1131488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 currently have no way to track their booking status or view their upcoming schedule. </a:t>
            </a:r>
            <a:endParaRPr/>
          </a:p>
        </p:txBody>
      </p:sp>
      <p:pic>
        <p:nvPicPr>
          <p:cNvPr descr="A blue and white logo&#10;&#10;Description automatically generated" id="275" name="Google Shape;2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086918" y="5120747"/>
            <a:ext cx="113148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NOW! </a:t>
            </a: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 Can easily view all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court reservations</a:t>
            </a: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	.</a:t>
            </a:r>
            <a:endParaRPr/>
          </a:p>
        </p:txBody>
      </p:sp>
      <p:grpSp>
        <p:nvGrpSpPr>
          <p:cNvPr id="284" name="Google Shape;284;p20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285" name="Google Shape;285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20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5488545" y="1850707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6010800" y="2616950"/>
            <a:ext cx="62664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Reservation</a:t>
            </a:r>
            <a:endParaRPr/>
          </a:p>
        </p:txBody>
      </p:sp>
      <p:grpSp>
        <p:nvGrpSpPr>
          <p:cNvPr id="290" name="Google Shape;290;p20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291" name="Google Shape;291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20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294" name="Google Shape;294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20"/>
          <p:cNvSpPr txBox="1"/>
          <p:nvPr/>
        </p:nvSpPr>
        <p:spPr>
          <a:xfrm>
            <a:off x="4658941" y="7800426"/>
            <a:ext cx="23959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So That,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6858000" y="6972300"/>
            <a:ext cx="1358980" cy="124267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 flipH="1" rot="10800000">
            <a:off x="6858000" y="8214411"/>
            <a:ext cx="1358980" cy="124267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8293495" y="7021516"/>
            <a:ext cx="35627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Track Date &amp; Time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8293495" y="8835747"/>
            <a:ext cx="41232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Identify Court number</a:t>
            </a:r>
            <a:endParaRPr/>
          </a:p>
        </p:txBody>
      </p:sp>
      <p:pic>
        <p:nvPicPr>
          <p:cNvPr descr="A blue and white logo&#10;&#10;Description automatically generated" id="301" name="Google Shape;3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0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light bulb with a bullet inside&#10;&#10;Description automatically generated" id="303" name="Google Shape;3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4496387"/>
            <a:ext cx="1634014" cy="163401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1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311" name="Google Shape;311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1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5488545" y="185027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Reservation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6533072" y="2700108"/>
            <a:ext cx="5221853" cy="74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Cancelling</a:t>
            </a:r>
            <a:endParaRPr/>
          </a:p>
        </p:txBody>
      </p:sp>
      <p:grpSp>
        <p:nvGrpSpPr>
          <p:cNvPr id="316" name="Google Shape;316;p21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317" name="Google Shape;317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21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person in a tie&#10;&#10;Description automatically generated" id="322" name="Google Shape;3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438" y="4863588"/>
            <a:ext cx="1649948" cy="1727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question mark on a black background&#10;&#10;Description automatically generated" id="323" name="Google Shape;3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693100">
            <a:off x="3112978" y="4196986"/>
            <a:ext cx="1110136" cy="111013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1"/>
          <p:cNvSpPr txBox="1"/>
          <p:nvPr/>
        </p:nvSpPr>
        <p:spPr>
          <a:xfrm>
            <a:off x="3772718" y="5120747"/>
            <a:ext cx="1131488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 </a:t>
            </a: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cannot remove unwanted bookings, leading to wasted court slots and blocked access for others. </a:t>
            </a:r>
            <a:endParaRPr/>
          </a:p>
        </p:txBody>
      </p:sp>
      <p:pic>
        <p:nvPicPr>
          <p:cNvPr descr="A blue and white logo&#10;&#10;Description automatically generated" id="325" name="Google Shape;3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green check mark in a circle&#10;&#10;Description automatically generated" id="333" name="Google Shape;3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441" y="4680758"/>
            <a:ext cx="3488953" cy="20933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22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335" name="Google Shape;335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22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/>
          </a:p>
        </p:txBody>
      </p:sp>
      <p:grpSp>
        <p:nvGrpSpPr>
          <p:cNvPr id="338" name="Google Shape;338;p22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339" name="Google Shape;339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22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342" name="Google Shape;342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2"/>
          <p:cNvSpPr txBox="1"/>
          <p:nvPr/>
        </p:nvSpPr>
        <p:spPr>
          <a:xfrm>
            <a:off x="3704849" y="5171428"/>
            <a:ext cx="108782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Provided a seamless cancellation button that optimizes court availability</a:t>
            </a:r>
            <a:endParaRPr/>
          </a:p>
        </p:txBody>
      </p:sp>
      <p:pic>
        <p:nvPicPr>
          <p:cNvPr descr="A black and white image of a bicycle&#10;&#10;Description automatically generated" id="345" name="Google Shape;3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7600" y="6682932"/>
            <a:ext cx="2560073" cy="2560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stamp with black background&#10;&#10;Description automatically generated" id="346" name="Google Shape;3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1511" y="7229125"/>
            <a:ext cx="3137450" cy="1422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Description automatically generated" id="347" name="Google Shape;3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2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5488545" y="185027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Reservation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533072" y="2700108"/>
            <a:ext cx="5221853" cy="74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Cancelling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/>
          </a:p>
        </p:txBody>
      </p:sp>
      <p:grpSp>
        <p:nvGrpSpPr>
          <p:cNvPr id="359" name="Google Shape;359;p23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360" name="Google Shape;36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23"/>
          <p:cNvGrpSpPr/>
          <p:nvPr/>
        </p:nvGrpSpPr>
        <p:grpSpPr>
          <a:xfrm>
            <a:off x="17294531" y="7048500"/>
            <a:ext cx="1256320" cy="1256320"/>
            <a:chOff x="0" y="0"/>
            <a:chExt cx="812800" cy="812800"/>
          </a:xfrm>
        </p:grpSpPr>
        <p:sp>
          <p:nvSpPr>
            <p:cNvPr id="363" name="Google Shape;363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5" name="Google Shape;3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4345" y="3517672"/>
            <a:ext cx="14999306" cy="615113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3"/>
          <p:cNvSpPr txBox="1"/>
          <p:nvPr/>
        </p:nvSpPr>
        <p:spPr>
          <a:xfrm>
            <a:off x="5488545" y="185027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Reservation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6533072" y="2700108"/>
            <a:ext cx="5221853" cy="74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pic>
        <p:nvPicPr>
          <p:cNvPr descr="A blue and white logo&#10;&#10;Description automatically generated" id="369" name="Google Shape;3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3"/>
          <p:cNvSpPr txBox="1"/>
          <p:nvPr/>
        </p:nvSpPr>
        <p:spPr>
          <a:xfrm>
            <a:off x="1390523" y="561438"/>
            <a:ext cx="188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" name="Google Shape;376;p24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377" name="Google Shape;37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9" name="Google Shape;379;p24"/>
          <p:cNvSpPr txBox="1"/>
          <p:nvPr/>
        </p:nvSpPr>
        <p:spPr>
          <a:xfrm>
            <a:off x="5150546" y="5507908"/>
            <a:ext cx="87549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No secure mechanism exists for users to regain access after losing their password.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5150546" y="1848992"/>
            <a:ext cx="7311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6589147" y="2699917"/>
            <a:ext cx="4433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Recovery</a:t>
            </a:r>
            <a:endParaRPr/>
          </a:p>
        </p:txBody>
      </p:sp>
      <p:grpSp>
        <p:nvGrpSpPr>
          <p:cNvPr id="383" name="Google Shape;383;p24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384" name="Google Shape;384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24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387" name="Google Shape;387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blue and white logo&#10;&#10;Description automatically generated" id="389" name="Google Shape;3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4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8853" y="5143500"/>
            <a:ext cx="1929147" cy="192914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4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5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8" name="Google Shape;398;p25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399" name="Google Shape;399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25"/>
          <p:cNvSpPr txBox="1"/>
          <p:nvPr/>
        </p:nvSpPr>
        <p:spPr>
          <a:xfrm>
            <a:off x="4895213" y="4292799"/>
            <a:ext cx="83228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Secure Access Recovery for All Users</a:t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endParaRPr/>
          </a:p>
        </p:txBody>
      </p:sp>
      <p:sp>
        <p:nvSpPr>
          <p:cNvPr id="403" name="Google Shape;403;p25"/>
          <p:cNvSpPr txBox="1"/>
          <p:nvPr/>
        </p:nvSpPr>
        <p:spPr>
          <a:xfrm>
            <a:off x="5150546" y="1848992"/>
            <a:ext cx="7311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6589147" y="2699917"/>
            <a:ext cx="4433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Recovery</a:t>
            </a:r>
            <a:endParaRPr/>
          </a:p>
        </p:txBody>
      </p:sp>
      <p:grpSp>
        <p:nvGrpSpPr>
          <p:cNvPr id="405" name="Google Shape;405;p25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406" name="Google Shape;406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25"/>
          <p:cNvSpPr/>
          <p:nvPr/>
        </p:nvSpPr>
        <p:spPr>
          <a:xfrm>
            <a:off x="4711329" y="5359293"/>
            <a:ext cx="2471942" cy="668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5"/>
          <p:cNvSpPr/>
          <p:nvPr/>
        </p:nvSpPr>
        <p:spPr>
          <a:xfrm>
            <a:off x="9829492" y="5280290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7D81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5"/>
          <p:cNvSpPr/>
          <p:nvPr/>
        </p:nvSpPr>
        <p:spPr>
          <a:xfrm flipH="1" rot="10800000">
            <a:off x="7647354" y="6536609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7D81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/>
          <p:nvPr/>
        </p:nvSpPr>
        <p:spPr>
          <a:xfrm>
            <a:off x="5425502" y="5296411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7D81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3245590" y="5260933"/>
            <a:ext cx="2534413" cy="129377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2409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 flipH="1" rot="10800000">
            <a:off x="3244638" y="6550870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7D81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 flipH="1" rot="10800000">
            <a:off x="5437159" y="6554180"/>
            <a:ext cx="2538388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2409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7639801" y="5297861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2409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 flipH="1" rot="10800000">
            <a:off x="12025036" y="6536609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7D81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 flipH="1" rot="10800000">
            <a:off x="9832989" y="6538060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2409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12039600" y="5300975"/>
            <a:ext cx="2534414" cy="1256319"/>
          </a:xfrm>
          <a:custGeom>
            <a:rect b="b" l="l" r="r" t="t"/>
            <a:pathLst>
              <a:path extrusionOk="0" h="210" w="421">
                <a:moveTo>
                  <a:pt x="210" y="57"/>
                </a:moveTo>
                <a:cubicBezTo>
                  <a:pt x="295" y="57"/>
                  <a:pt x="364" y="126"/>
                  <a:pt x="364" y="210"/>
                </a:cubicBezTo>
                <a:cubicBezTo>
                  <a:pt x="421" y="210"/>
                  <a:pt x="421" y="210"/>
                  <a:pt x="421" y="210"/>
                </a:cubicBezTo>
                <a:cubicBezTo>
                  <a:pt x="421" y="93"/>
                  <a:pt x="327" y="0"/>
                  <a:pt x="210" y="0"/>
                </a:cubicBezTo>
                <a:cubicBezTo>
                  <a:pt x="93" y="0"/>
                  <a:pt x="0" y="93"/>
                  <a:pt x="0" y="210"/>
                </a:cubicBezTo>
                <a:cubicBezTo>
                  <a:pt x="57" y="210"/>
                  <a:pt x="57" y="210"/>
                  <a:pt x="57" y="210"/>
                </a:cubicBezTo>
                <a:cubicBezTo>
                  <a:pt x="57" y="126"/>
                  <a:pt x="126" y="57"/>
                  <a:pt x="210" y="57"/>
                </a:cubicBezTo>
                <a:close/>
              </a:path>
            </a:pathLst>
          </a:custGeom>
          <a:solidFill>
            <a:srgbClr val="2409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3624067" y="6233410"/>
            <a:ext cx="164029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5929375" y="6246403"/>
            <a:ext cx="15142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8321134" y="6273548"/>
            <a:ext cx="110435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10125835" y="6249418"/>
            <a:ext cx="2016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Professor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12561928" y="6227927"/>
            <a:ext cx="151514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Vendor</a:t>
            </a:r>
            <a:endParaRPr/>
          </a:p>
        </p:txBody>
      </p:sp>
      <p:grpSp>
        <p:nvGrpSpPr>
          <p:cNvPr id="424" name="Google Shape;424;p25"/>
          <p:cNvGrpSpPr/>
          <p:nvPr/>
        </p:nvGrpSpPr>
        <p:grpSpPr>
          <a:xfrm>
            <a:off x="148754" y="2145498"/>
            <a:ext cx="1256320" cy="1256320"/>
            <a:chOff x="0" y="0"/>
            <a:chExt cx="812800" cy="812800"/>
          </a:xfrm>
        </p:grpSpPr>
        <p:sp>
          <p:nvSpPr>
            <p:cNvPr id="425" name="Google Shape;425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blue and white logo&#10;&#10;Description automatically generated" id="427" name="Google Shape;4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5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A light bulb with a bullet inside&#10;&#10;Description automatically generated" id="429" name="Google Shape;42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5598" y="3693807"/>
            <a:ext cx="1634014" cy="163401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5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6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6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7" name="Google Shape;437;p26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438" name="Google Shape;43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26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14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5150546" y="1848992"/>
            <a:ext cx="7311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6589147" y="2699917"/>
            <a:ext cx="4433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Recovery</a:t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2276718" y="4359646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clicks "Forgot Password?"</a:t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10476220" y="4362956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Mail is sent to the user</a:t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2305356" y="6110137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enters their registered Email</a:t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10476220" y="6110137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updates his password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2276718" y="7877401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validates the user exists in the database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10476220" y="7877401"/>
            <a:ext cx="5109664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 is updated, and the user is redirected to Login</a:t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2276718" y="4356335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2321029" y="6089854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2283353" y="7870780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10507671" y="6123599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10463521" y="7874090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10476220" y="4359646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55" name="Google Shape;455;p26"/>
          <p:cNvSpPr txBox="1"/>
          <p:nvPr/>
        </p:nvSpPr>
        <p:spPr>
          <a:xfrm>
            <a:off x="1172291" y="3320194"/>
            <a:ext cx="35445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Logic Flow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and white logo&#10;&#10;Description automatically generated" id="456" name="Google Shape;4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58" name="Google Shape;458;p26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459" name="Google Shape;459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26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462" name="Google Shape;462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4" name="Google Shape;464;p26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7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/>
          </a:p>
        </p:txBody>
      </p:sp>
      <p:sp>
        <p:nvSpPr>
          <p:cNvPr id="472" name="Google Shape;472;p27"/>
          <p:cNvSpPr txBox="1"/>
          <p:nvPr/>
        </p:nvSpPr>
        <p:spPr>
          <a:xfrm>
            <a:off x="5150546" y="1848992"/>
            <a:ext cx="73110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Password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6589147" y="2699917"/>
            <a:ext cx="4433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Recovery</a:t>
            </a:r>
            <a:endParaRPr/>
          </a:p>
        </p:txBody>
      </p:sp>
      <p:pic>
        <p:nvPicPr>
          <p:cNvPr descr="A screenshot of a login box&#10;&#10;Description automatically generated" id="474" name="Google Shape;4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429" y="3749975"/>
            <a:ext cx="6901139" cy="593402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27"/>
          <p:cNvSpPr/>
          <p:nvPr/>
        </p:nvSpPr>
        <p:spPr>
          <a:xfrm>
            <a:off x="7010400" y="8648701"/>
            <a:ext cx="3779520" cy="824324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27"/>
          <p:cNvCxnSpPr/>
          <p:nvPr/>
        </p:nvCxnSpPr>
        <p:spPr>
          <a:xfrm flipH="1">
            <a:off x="10645728" y="8068163"/>
            <a:ext cx="1671534" cy="877273"/>
          </a:xfrm>
          <a:prstGeom prst="straightConnector1">
            <a:avLst/>
          </a:prstGeom>
          <a:noFill/>
          <a:ln cap="flat" cmpd="sng" w="1397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A blue and white logo&#10;&#10;Description automatically generated" id="477" name="Google Shape;4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7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9" name="Google Shape;479;p27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480" name="Google Shape;480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27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483" name="Google Shape;483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27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486" name="Google Shape;486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27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8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4" name="Google Shape;494;p28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495" name="Google Shape;495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28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498" name="Google Shape;498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28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501" name="Google Shape;501;p2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p28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endParaRPr/>
          </a:p>
        </p:txBody>
      </p:sp>
      <p:pic>
        <p:nvPicPr>
          <p:cNvPr descr="A blue and white logo&#10;&#10;Description automatically generated" id="505" name="Google Shape;5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8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28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Free-Spot</a:t>
            </a:r>
            <a:endParaRPr/>
          </a:p>
        </p:txBody>
      </p:sp>
      <p:sp>
        <p:nvSpPr>
          <p:cNvPr id="508" name="Google Shape;508;p28"/>
          <p:cNvSpPr txBox="1"/>
          <p:nvPr/>
        </p:nvSpPr>
        <p:spPr>
          <a:xfrm>
            <a:off x="5906725" y="2758950"/>
            <a:ext cx="59361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sp>
        <p:nvSpPr>
          <p:cNvPr id="509" name="Google Shape;509;p28"/>
          <p:cNvSpPr txBox="1"/>
          <p:nvPr/>
        </p:nvSpPr>
        <p:spPr>
          <a:xfrm>
            <a:off x="3856165" y="5600700"/>
            <a:ext cx="1057567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 unknowingly miss the opportunity to join sold-out events because they are not alerted when a spot frees up later.</a:t>
            </a:r>
            <a:endParaRPr/>
          </a:p>
        </p:txBody>
      </p:sp>
      <p:pic>
        <p:nvPicPr>
          <p:cNvPr id="510" name="Google Shape;5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938043">
            <a:off x="1061715" y="3682984"/>
            <a:ext cx="4429771" cy="266886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8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9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7" name="Google Shape;517;p29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518" name="Google Shape;518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29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521" name="Google Shape;521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29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524" name="Google Shape;524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29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17</a:t>
            </a:r>
            <a:endParaRPr/>
          </a:p>
        </p:txBody>
      </p:sp>
      <p:pic>
        <p:nvPicPr>
          <p:cNvPr descr="A blue and white logo&#10;&#10;Description automatically generated" id="528" name="Google Shape;5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29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Free-Spot</a:t>
            </a:r>
            <a:endParaRPr/>
          </a:p>
        </p:txBody>
      </p:sp>
      <p:sp>
        <p:nvSpPr>
          <p:cNvPr id="531" name="Google Shape;531;p29"/>
          <p:cNvSpPr txBox="1"/>
          <p:nvPr/>
        </p:nvSpPr>
        <p:spPr>
          <a:xfrm>
            <a:off x="5808550" y="2756600"/>
            <a:ext cx="59949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sp>
        <p:nvSpPr>
          <p:cNvPr id="532" name="Google Shape;532;p29"/>
          <p:cNvSpPr/>
          <p:nvPr/>
        </p:nvSpPr>
        <p:spPr>
          <a:xfrm rot="5400000">
            <a:off x="8546675" y="5525971"/>
            <a:ext cx="583264" cy="3810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9"/>
          <p:cNvSpPr/>
          <p:nvPr/>
        </p:nvSpPr>
        <p:spPr>
          <a:xfrm rot="5400000">
            <a:off x="8546675" y="7344729"/>
            <a:ext cx="583264" cy="38101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9"/>
          <p:cNvSpPr/>
          <p:nvPr/>
        </p:nvSpPr>
        <p:spPr>
          <a:xfrm>
            <a:off x="6077399" y="4164641"/>
            <a:ext cx="5368770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Added a notification request button.</a:t>
            </a:r>
            <a:endParaRPr/>
          </a:p>
        </p:txBody>
      </p:sp>
      <p:sp>
        <p:nvSpPr>
          <p:cNvPr id="535" name="Google Shape;535;p29"/>
          <p:cNvSpPr/>
          <p:nvPr/>
        </p:nvSpPr>
        <p:spPr>
          <a:xfrm>
            <a:off x="6077399" y="4161330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6077398" y="5990815"/>
            <a:ext cx="5368771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student clicks it</a:t>
            </a:r>
            <a:endParaRPr/>
          </a:p>
        </p:txBody>
      </p:sp>
      <p:sp>
        <p:nvSpPr>
          <p:cNvPr id="537" name="Google Shape;537;p29"/>
          <p:cNvSpPr/>
          <p:nvPr/>
        </p:nvSpPr>
        <p:spPr>
          <a:xfrm>
            <a:off x="6077399" y="5987504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38" name="Google Shape;538;p29"/>
          <p:cNvSpPr/>
          <p:nvPr/>
        </p:nvSpPr>
        <p:spPr>
          <a:xfrm>
            <a:off x="6028580" y="7809848"/>
            <a:ext cx="5417590" cy="1256320"/>
          </a:xfrm>
          <a:prstGeom prst="roundRect">
            <a:avLst>
              <a:gd fmla="val 50000" name="adj"/>
            </a:avLst>
          </a:prstGeom>
          <a:solidFill>
            <a:srgbClr val="7D81D6"/>
          </a:solidFill>
          <a:ln cap="flat" cmpd="sng" w="12700">
            <a:solidFill>
              <a:srgbClr val="00515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4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 notified as soon as a spot becomes available.</a:t>
            </a: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6028580" y="7806537"/>
            <a:ext cx="1215574" cy="126294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240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pic>
        <p:nvPicPr>
          <p:cNvPr descr="A light bulb with a bullet inside&#10;&#10;Description automatically generated" id="540" name="Google Shape;5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0103" y="3092933"/>
            <a:ext cx="2913933" cy="291393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9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0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7" name="Google Shape;547;p30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548" name="Google Shape;548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0" name="Google Shape;550;p30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551" name="Google Shape;551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3" name="Google Shape;553;p30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554" name="Google Shape;554;p3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30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0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18</a:t>
            </a:r>
            <a:endParaRPr/>
          </a:p>
        </p:txBody>
      </p:sp>
      <p:pic>
        <p:nvPicPr>
          <p:cNvPr descr="A blue and white logo&#10;&#10;Description automatically generated" id="558" name="Google Shape;5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0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30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Free-Spot</a:t>
            </a:r>
            <a:endParaRPr/>
          </a:p>
        </p:txBody>
      </p:sp>
      <p:sp>
        <p:nvSpPr>
          <p:cNvPr id="561" name="Google Shape;561;p30"/>
          <p:cNvSpPr txBox="1"/>
          <p:nvPr/>
        </p:nvSpPr>
        <p:spPr>
          <a:xfrm>
            <a:off x="5696050" y="2758925"/>
            <a:ext cx="62199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pic>
        <p:nvPicPr>
          <p:cNvPr descr="A green check mark in a circle&#10;&#10;Description automatically generated" id="562" name="Google Shape;5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4976" y="3924300"/>
            <a:ext cx="2562048" cy="1537229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0"/>
          <p:cNvSpPr/>
          <p:nvPr/>
        </p:nvSpPr>
        <p:spPr>
          <a:xfrm>
            <a:off x="1359091" y="5860589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system validate that the event is currently at 100% capacity before enabling this feature.</a:t>
            </a:r>
            <a:endParaRPr/>
          </a:p>
        </p:txBody>
      </p:sp>
      <p:sp>
        <p:nvSpPr>
          <p:cNvPr id="564" name="Google Shape;564;p30"/>
          <p:cNvSpPr/>
          <p:nvPr/>
        </p:nvSpPr>
        <p:spPr>
          <a:xfrm>
            <a:off x="6369664" y="5892920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Provides a backup opportunity to attend previously sold-out events.</a:t>
            </a: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11380237" y="5892497"/>
            <a:ext cx="4566540" cy="1731995"/>
          </a:xfrm>
          <a:prstGeom prst="roundRect">
            <a:avLst>
              <a:gd fmla="val 16667" name="adj"/>
            </a:avLst>
          </a:prstGeom>
          <a:solidFill>
            <a:srgbClr val="7D81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Eliminates the need for students to repeatedly check for free spots.</a:t>
            </a:r>
            <a:endParaRPr/>
          </a:p>
        </p:txBody>
      </p:sp>
      <p:sp>
        <p:nvSpPr>
          <p:cNvPr id="566" name="Google Shape;566;p30"/>
          <p:cNvSpPr txBox="1"/>
          <p:nvPr/>
        </p:nvSpPr>
        <p:spPr>
          <a:xfrm>
            <a:off x="7256088" y="5346616"/>
            <a:ext cx="27936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Second Chance</a:t>
            </a:r>
            <a:endParaRPr/>
          </a:p>
        </p:txBody>
      </p:sp>
      <p:sp>
        <p:nvSpPr>
          <p:cNvPr id="567" name="Google Shape;567;p30"/>
          <p:cNvSpPr txBox="1"/>
          <p:nvPr/>
        </p:nvSpPr>
        <p:spPr>
          <a:xfrm>
            <a:off x="1963165" y="5314489"/>
            <a:ext cx="332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Capacity Validation</a:t>
            </a:r>
            <a:endParaRPr/>
          </a:p>
        </p:txBody>
      </p:sp>
      <p:sp>
        <p:nvSpPr>
          <p:cNvPr id="568" name="Google Shape;568;p30"/>
          <p:cNvSpPr txBox="1"/>
          <p:nvPr/>
        </p:nvSpPr>
        <p:spPr>
          <a:xfrm>
            <a:off x="12019376" y="5346625"/>
            <a:ext cx="34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Zero Manual Effort</a:t>
            </a:r>
            <a:endParaRPr/>
          </a:p>
        </p:txBody>
      </p:sp>
      <p:sp>
        <p:nvSpPr>
          <p:cNvPr id="569" name="Google Shape;569;p30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1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" name="Google Shape;575;p31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576" name="Google Shape;576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31"/>
          <p:cNvGrpSpPr/>
          <p:nvPr/>
        </p:nvGrpSpPr>
        <p:grpSpPr>
          <a:xfrm>
            <a:off x="15422108" y="5233217"/>
            <a:ext cx="1256320" cy="1256320"/>
            <a:chOff x="0" y="0"/>
            <a:chExt cx="812800" cy="812800"/>
          </a:xfrm>
        </p:grpSpPr>
        <p:sp>
          <p:nvSpPr>
            <p:cNvPr id="579" name="Google Shape;579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31"/>
          <p:cNvGrpSpPr/>
          <p:nvPr/>
        </p:nvGrpSpPr>
        <p:grpSpPr>
          <a:xfrm>
            <a:off x="16092687" y="1979148"/>
            <a:ext cx="1892038" cy="1892038"/>
            <a:chOff x="0" y="0"/>
            <a:chExt cx="812800" cy="812800"/>
          </a:xfrm>
        </p:grpSpPr>
        <p:sp>
          <p:nvSpPr>
            <p:cNvPr id="582" name="Google Shape;582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1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31"/>
          <p:cNvSpPr txBox="1"/>
          <p:nvPr/>
        </p:nvSpPr>
        <p:spPr>
          <a:xfrm>
            <a:off x="-499498" y="1957178"/>
            <a:ext cx="14152523" cy="48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1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/>
          </a:p>
        </p:txBody>
      </p:sp>
      <p:pic>
        <p:nvPicPr>
          <p:cNvPr descr="A blue and white logo&#10;&#10;Description automatically generated" id="586" name="Google Shape;5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1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8" name="Google Shape;5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3543300"/>
            <a:ext cx="5516411" cy="6148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28390" y="3615334"/>
            <a:ext cx="5629275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1"/>
          <p:cNvSpPr txBox="1"/>
          <p:nvPr/>
        </p:nvSpPr>
        <p:spPr>
          <a:xfrm>
            <a:off x="5150546" y="1848992"/>
            <a:ext cx="7310908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Free-Spot</a:t>
            </a:r>
            <a:endParaRPr/>
          </a:p>
        </p:txBody>
      </p:sp>
      <p:sp>
        <p:nvSpPr>
          <p:cNvPr id="591" name="Google Shape;591;p31"/>
          <p:cNvSpPr txBox="1"/>
          <p:nvPr/>
        </p:nvSpPr>
        <p:spPr>
          <a:xfrm>
            <a:off x="5621650" y="2694538"/>
            <a:ext cx="6368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sp>
        <p:nvSpPr>
          <p:cNvPr id="592" name="Google Shape;592;p31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2"/>
          <p:cNvSpPr/>
          <p:nvPr/>
        </p:nvSpPr>
        <p:spPr>
          <a:xfrm>
            <a:off x="0" y="2306583"/>
            <a:ext cx="16774314" cy="7408078"/>
          </a:xfrm>
          <a:prstGeom prst="rect">
            <a:avLst/>
          </a:prstGeom>
          <a:gradFill>
            <a:gsLst>
              <a:gs pos="0">
                <a:srgbClr val="D9CFF3"/>
              </a:gs>
              <a:gs pos="83000">
                <a:srgbClr val="C7C9F0">
                  <a:alpha val="17647"/>
                </a:srgbClr>
              </a:gs>
              <a:gs pos="100000">
                <a:srgbClr val="EDE5FF">
                  <a:alpha val="3882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8" name="Google Shape;598;p32"/>
          <p:cNvGrpSpPr/>
          <p:nvPr/>
        </p:nvGrpSpPr>
        <p:grpSpPr>
          <a:xfrm>
            <a:off x="16774314" y="2306583"/>
            <a:ext cx="1892038" cy="1892038"/>
            <a:chOff x="0" y="0"/>
            <a:chExt cx="812800" cy="812800"/>
          </a:xfrm>
        </p:grpSpPr>
        <p:sp>
          <p:nvSpPr>
            <p:cNvPr id="599" name="Google Shape;599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9568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1" name="Google Shape;601;p32"/>
          <p:cNvGrpSpPr/>
          <p:nvPr/>
        </p:nvGrpSpPr>
        <p:grpSpPr>
          <a:xfrm>
            <a:off x="400540" y="1693375"/>
            <a:ext cx="1256320" cy="1256320"/>
            <a:chOff x="0" y="0"/>
            <a:chExt cx="812800" cy="812800"/>
          </a:xfrm>
        </p:grpSpPr>
        <p:sp>
          <p:nvSpPr>
            <p:cNvPr id="602" name="Google Shape;602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32"/>
          <p:cNvGrpSpPr/>
          <p:nvPr/>
        </p:nvGrpSpPr>
        <p:grpSpPr>
          <a:xfrm>
            <a:off x="16294413" y="5282926"/>
            <a:ext cx="1256320" cy="1256320"/>
            <a:chOff x="0" y="0"/>
            <a:chExt cx="812800" cy="812800"/>
          </a:xfrm>
        </p:grpSpPr>
        <p:sp>
          <p:nvSpPr>
            <p:cNvPr id="605" name="Google Shape;605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95686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7" name="Google Shape;607;p32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608" name="Google Shape;608;p32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/>
          </a:p>
        </p:txBody>
      </p:sp>
      <p:sp>
        <p:nvSpPr>
          <p:cNvPr id="609" name="Google Shape;609;p32"/>
          <p:cNvSpPr txBox="1"/>
          <p:nvPr/>
        </p:nvSpPr>
        <p:spPr>
          <a:xfrm>
            <a:off x="5966173" y="1938845"/>
            <a:ext cx="6355654" cy="76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33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pic>
        <p:nvPicPr>
          <p:cNvPr descr="A blue and white logo&#10;&#10;Description automatically generated" id="610" name="Google Shape;6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2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32"/>
          <p:cNvSpPr txBox="1"/>
          <p:nvPr/>
        </p:nvSpPr>
        <p:spPr>
          <a:xfrm>
            <a:off x="6984059" y="3466972"/>
            <a:ext cx="43198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Key Deliverables</a:t>
            </a:r>
            <a:endParaRPr b="0" sz="3600">
              <a:solidFill>
                <a:srgbClr val="2409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2"/>
          <p:cNvSpPr txBox="1"/>
          <p:nvPr/>
        </p:nvSpPr>
        <p:spPr>
          <a:xfrm>
            <a:off x="633118" y="5387866"/>
            <a:ext cx="4319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Court Management</a:t>
            </a:r>
            <a:endParaRPr/>
          </a:p>
        </p:txBody>
      </p:sp>
      <p:sp>
        <p:nvSpPr>
          <p:cNvPr id="614" name="Google Shape;614;p32"/>
          <p:cNvSpPr/>
          <p:nvPr/>
        </p:nvSpPr>
        <p:spPr>
          <a:xfrm>
            <a:off x="4987708" y="4740519"/>
            <a:ext cx="863967" cy="89740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2"/>
          <p:cNvSpPr/>
          <p:nvPr/>
        </p:nvSpPr>
        <p:spPr>
          <a:xfrm flipH="1" rot="10800000">
            <a:off x="4987708" y="5604557"/>
            <a:ext cx="863967" cy="897406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 txBox="1"/>
          <p:nvPr/>
        </p:nvSpPr>
        <p:spPr>
          <a:xfrm>
            <a:off x="5999934" y="4656596"/>
            <a:ext cx="92479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Enabled the </a:t>
            </a:r>
            <a:r>
              <a:rPr b="1"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Events Office </a:t>
            </a: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to dynamically create and list</a:t>
            </a:r>
            <a:endParaRPr/>
          </a:p>
        </p:txBody>
      </p:sp>
      <p:sp>
        <p:nvSpPr>
          <p:cNvPr id="617" name="Google Shape;617;p32"/>
          <p:cNvSpPr txBox="1"/>
          <p:nvPr/>
        </p:nvSpPr>
        <p:spPr>
          <a:xfrm>
            <a:off x="5999934" y="5978743"/>
            <a:ext cx="98872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Enabled the </a:t>
            </a:r>
            <a:r>
              <a:rPr b="1"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 </a:t>
            </a: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to view and cancel court reservations in a seamless way.</a:t>
            </a:r>
            <a:endParaRPr/>
          </a:p>
        </p:txBody>
      </p:sp>
      <p:sp>
        <p:nvSpPr>
          <p:cNvPr id="618" name="Google Shape;618;p32"/>
          <p:cNvSpPr txBox="1"/>
          <p:nvPr/>
        </p:nvSpPr>
        <p:spPr>
          <a:xfrm>
            <a:off x="633118" y="8582680"/>
            <a:ext cx="43198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Free-Spot Notification</a:t>
            </a:r>
            <a:endParaRPr/>
          </a:p>
        </p:txBody>
      </p:sp>
      <p:sp>
        <p:nvSpPr>
          <p:cNvPr id="619" name="Google Shape;619;p32"/>
          <p:cNvSpPr/>
          <p:nvPr/>
        </p:nvSpPr>
        <p:spPr>
          <a:xfrm>
            <a:off x="5133332" y="8618452"/>
            <a:ext cx="648587" cy="43588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 txBox="1"/>
          <p:nvPr/>
        </p:nvSpPr>
        <p:spPr>
          <a:xfrm>
            <a:off x="5993140" y="8577280"/>
            <a:ext cx="102374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Automatically alerts </a:t>
            </a:r>
            <a:r>
              <a:rPr b="1"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 when space becomes available.</a:t>
            </a:r>
            <a:endParaRPr/>
          </a:p>
        </p:txBody>
      </p:sp>
      <p:sp>
        <p:nvSpPr>
          <p:cNvPr id="621" name="Google Shape;621;p32"/>
          <p:cNvSpPr txBox="1"/>
          <p:nvPr/>
        </p:nvSpPr>
        <p:spPr>
          <a:xfrm>
            <a:off x="1028700" y="7220856"/>
            <a:ext cx="37469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Change Password</a:t>
            </a:r>
            <a:endParaRPr/>
          </a:p>
        </p:txBody>
      </p:sp>
      <p:sp>
        <p:nvSpPr>
          <p:cNvPr id="622" name="Google Shape;622;p32"/>
          <p:cNvSpPr/>
          <p:nvPr/>
        </p:nvSpPr>
        <p:spPr>
          <a:xfrm>
            <a:off x="5133332" y="7282132"/>
            <a:ext cx="648587" cy="43588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409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2"/>
          <p:cNvSpPr txBox="1"/>
          <p:nvPr/>
        </p:nvSpPr>
        <p:spPr>
          <a:xfrm>
            <a:off x="5943400" y="7188441"/>
            <a:ext cx="1116023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Added a "Forgot Password" workflow for instant access recovery for </a:t>
            </a:r>
            <a:r>
              <a:rPr b="1"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All Users</a:t>
            </a:r>
            <a:r>
              <a:rPr lang="en-US" sz="2800">
                <a:solidFill>
                  <a:srgbClr val="24096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624" name="Google Shape;624;p32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33"/>
          <p:cNvGrpSpPr/>
          <p:nvPr/>
        </p:nvGrpSpPr>
        <p:grpSpPr>
          <a:xfrm>
            <a:off x="4889840" y="2149955"/>
            <a:ext cx="2999351" cy="2999351"/>
            <a:chOff x="0" y="0"/>
            <a:chExt cx="812800" cy="812800"/>
          </a:xfrm>
        </p:grpSpPr>
        <p:sp>
          <p:nvSpPr>
            <p:cNvPr id="630" name="Google Shape;630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5764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2" name="Google Shape;632;p33"/>
          <p:cNvSpPr txBox="1"/>
          <p:nvPr/>
        </p:nvSpPr>
        <p:spPr>
          <a:xfrm>
            <a:off x="4132612" y="4409677"/>
            <a:ext cx="10022775" cy="1467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35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grpSp>
        <p:nvGrpSpPr>
          <p:cNvPr id="633" name="Google Shape;633;p33"/>
          <p:cNvGrpSpPr/>
          <p:nvPr/>
        </p:nvGrpSpPr>
        <p:grpSpPr>
          <a:xfrm rot="-7357214">
            <a:off x="10690988" y="3451709"/>
            <a:ext cx="1931597" cy="1931597"/>
            <a:chOff x="0" y="0"/>
            <a:chExt cx="812800" cy="812800"/>
          </a:xfrm>
        </p:grpSpPr>
        <p:sp>
          <p:nvSpPr>
            <p:cNvPr id="634" name="Google Shape;634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p33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637" name="Google Shape;637;p33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/>
          </a:p>
        </p:txBody>
      </p:sp>
      <p:pic>
        <p:nvPicPr>
          <p:cNvPr descr="A blue and white logo&#10;&#10;Description automatically generated" id="638" name="Google Shape;6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3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33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5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34"/>
          <p:cNvGrpSpPr/>
          <p:nvPr/>
        </p:nvGrpSpPr>
        <p:grpSpPr>
          <a:xfrm>
            <a:off x="4889840" y="2149955"/>
            <a:ext cx="2999351" cy="2999351"/>
            <a:chOff x="0" y="0"/>
            <a:chExt cx="812800" cy="812800"/>
          </a:xfrm>
        </p:grpSpPr>
        <p:sp>
          <p:nvSpPr>
            <p:cNvPr id="646" name="Google Shape;646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5764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34"/>
          <p:cNvSpPr txBox="1"/>
          <p:nvPr/>
        </p:nvSpPr>
        <p:spPr>
          <a:xfrm>
            <a:off x="5233203" y="3316034"/>
            <a:ext cx="7055617" cy="154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35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Thank</a:t>
            </a:r>
            <a:endParaRPr/>
          </a:p>
        </p:txBody>
      </p:sp>
      <p:sp>
        <p:nvSpPr>
          <p:cNvPr id="649" name="Google Shape;649;p34"/>
          <p:cNvSpPr txBox="1"/>
          <p:nvPr/>
        </p:nvSpPr>
        <p:spPr>
          <a:xfrm>
            <a:off x="6389516" y="4760679"/>
            <a:ext cx="4990576" cy="154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35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You.</a:t>
            </a:r>
            <a:endParaRPr/>
          </a:p>
        </p:txBody>
      </p:sp>
      <p:grpSp>
        <p:nvGrpSpPr>
          <p:cNvPr id="650" name="Google Shape;650;p34"/>
          <p:cNvGrpSpPr/>
          <p:nvPr/>
        </p:nvGrpSpPr>
        <p:grpSpPr>
          <a:xfrm rot="-7357214">
            <a:off x="10690988" y="3451709"/>
            <a:ext cx="1931597" cy="1931597"/>
            <a:chOff x="0" y="0"/>
            <a:chExt cx="812800" cy="812800"/>
          </a:xfrm>
        </p:grpSpPr>
        <p:sp>
          <p:nvSpPr>
            <p:cNvPr id="651" name="Google Shape;651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3C67BF">
                    <a:alpha val="57647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34"/>
          <p:cNvGrpSpPr/>
          <p:nvPr/>
        </p:nvGrpSpPr>
        <p:grpSpPr>
          <a:xfrm>
            <a:off x="-491235" y="7723424"/>
            <a:ext cx="19270471" cy="1213635"/>
            <a:chOff x="0" y="-38100"/>
            <a:chExt cx="5075350" cy="319640"/>
          </a:xfrm>
        </p:grpSpPr>
        <p:sp>
          <p:nvSpPr>
            <p:cNvPr id="654" name="Google Shape;654;p34"/>
            <p:cNvSpPr/>
            <p:nvPr/>
          </p:nvSpPr>
          <p:spPr>
            <a:xfrm>
              <a:off x="0" y="0"/>
              <a:ext cx="5075350" cy="281540"/>
            </a:xfrm>
            <a:custGeom>
              <a:rect b="b" l="l" r="r" t="t"/>
              <a:pathLst>
                <a:path extrusionOk="0" h="281540" w="5075350">
                  <a:moveTo>
                    <a:pt x="0" y="0"/>
                  </a:moveTo>
                  <a:lnTo>
                    <a:pt x="5075350" y="0"/>
                  </a:lnTo>
                  <a:lnTo>
                    <a:pt x="5075350" y="281540"/>
                  </a:lnTo>
                  <a:lnTo>
                    <a:pt x="0" y="281540"/>
                  </a:lnTo>
                  <a:close/>
                </a:path>
              </a:pathLst>
            </a:custGeom>
            <a:gradFill>
              <a:gsLst>
                <a:gs pos="0">
                  <a:srgbClr val="3C67BF">
                    <a:alpha val="22745"/>
                  </a:srgbClr>
                </a:gs>
                <a:gs pos="50000">
                  <a:srgbClr val="6B4CAF">
                    <a:alpha val="12941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4"/>
            <p:cNvSpPr txBox="1"/>
            <p:nvPr/>
          </p:nvSpPr>
          <p:spPr>
            <a:xfrm>
              <a:off x="0" y="-38100"/>
              <a:ext cx="5075350" cy="319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6" name="Google Shape;656;p34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  <p:sp>
        <p:nvSpPr>
          <p:cNvPr id="657" name="Google Shape;657;p34"/>
          <p:cNvSpPr txBox="1"/>
          <p:nvPr/>
        </p:nvSpPr>
        <p:spPr>
          <a:xfrm>
            <a:off x="16774314" y="9473025"/>
            <a:ext cx="354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/>
          </a:p>
        </p:txBody>
      </p:sp>
      <p:pic>
        <p:nvPicPr>
          <p:cNvPr descr="A blue and white logo&#10;&#10;Description automatically generated" id="658" name="Google Shape;6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517" y="380220"/>
            <a:ext cx="939052" cy="1184698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34"/>
          <p:cNvSpPr txBox="1"/>
          <p:nvPr/>
        </p:nvSpPr>
        <p:spPr>
          <a:xfrm>
            <a:off x="1390523" y="561438"/>
            <a:ext cx="1886077" cy="605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7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112D"/>
                </a:solidFill>
                <a:latin typeface="Montserrat"/>
                <a:ea typeface="Montserrat"/>
                <a:cs typeface="Montserrat"/>
                <a:sym typeface="Montserrat"/>
              </a:rPr>
              <a:t>Tokeners</a:t>
            </a:r>
            <a:endParaRPr b="1" sz="6000">
              <a:solidFill>
                <a:srgbClr val="0011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34"/>
          <p:cNvSpPr txBox="1"/>
          <p:nvPr/>
        </p:nvSpPr>
        <p:spPr>
          <a:xfrm>
            <a:off x="16050268" y="9473025"/>
            <a:ext cx="723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