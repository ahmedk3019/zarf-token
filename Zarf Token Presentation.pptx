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</p:sldIdLst>
  <p:sldSz cy="10287000" cx="18288000"/>
  <p:notesSz cx="6858000" cy="9144000"/>
  <p:embeddedFontLst>
    <p:embeddedFont>
      <p:font typeface="Montserrat"/>
      <p:bold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Montserrat-bold.fntdata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Relationship Id="rId4" Type="http://schemas.openxmlformats.org/officeDocument/2006/relationships/image" Target="../media/image1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Relationship Id="rId4" Type="http://schemas.openxmlformats.org/officeDocument/2006/relationships/image" Target="../media/image20.png"/><Relationship Id="rId5" Type="http://schemas.openxmlformats.org/officeDocument/2006/relationships/image" Target="../media/image1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3"/>
          <p:cNvGrpSpPr/>
          <p:nvPr/>
        </p:nvGrpSpPr>
        <p:grpSpPr>
          <a:xfrm>
            <a:off x="2172135" y="2337613"/>
            <a:ext cx="6031608" cy="6031608"/>
            <a:chOff x="0" y="0"/>
            <a:chExt cx="812800" cy="812800"/>
          </a:xfrm>
        </p:grpSpPr>
        <p:sp>
          <p:nvSpPr>
            <p:cNvPr id="89" name="Google Shape;89;p1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57647"/>
                  </a:srgbClr>
                </a:gs>
                <a:gs pos="100000">
                  <a:srgbClr val="F7ACFF">
                    <a:alpha val="57647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3"/>
          <p:cNvGrpSpPr/>
          <p:nvPr/>
        </p:nvGrpSpPr>
        <p:grpSpPr>
          <a:xfrm>
            <a:off x="3414845" y="1188931"/>
            <a:ext cx="1991544" cy="1991544"/>
            <a:chOff x="0" y="0"/>
            <a:chExt cx="812800" cy="812800"/>
          </a:xfrm>
        </p:grpSpPr>
        <p:sp>
          <p:nvSpPr>
            <p:cNvPr id="92" name="Google Shape;92;p1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3"/>
          <p:cNvGrpSpPr/>
          <p:nvPr/>
        </p:nvGrpSpPr>
        <p:grpSpPr>
          <a:xfrm>
            <a:off x="13043659" y="4214522"/>
            <a:ext cx="3185721" cy="3185721"/>
            <a:chOff x="0" y="0"/>
            <a:chExt cx="812800" cy="812800"/>
          </a:xfrm>
        </p:grpSpPr>
        <p:sp>
          <p:nvSpPr>
            <p:cNvPr id="95" name="Google Shape;95;p1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57647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7" name="Google Shape;97;p13"/>
          <p:cNvSpPr txBox="1"/>
          <p:nvPr/>
        </p:nvSpPr>
        <p:spPr>
          <a:xfrm>
            <a:off x="3055315" y="4706744"/>
            <a:ext cx="12177370" cy="13021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382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Zarf Token</a:t>
            </a:r>
            <a:endParaRPr/>
          </a:p>
        </p:txBody>
      </p:sp>
      <p:grpSp>
        <p:nvGrpSpPr>
          <p:cNvPr id="98" name="Google Shape;98;p13"/>
          <p:cNvGrpSpPr/>
          <p:nvPr/>
        </p:nvGrpSpPr>
        <p:grpSpPr>
          <a:xfrm>
            <a:off x="4163679" y="7797695"/>
            <a:ext cx="884434" cy="884434"/>
            <a:chOff x="0" y="0"/>
            <a:chExt cx="812800" cy="812800"/>
          </a:xfrm>
        </p:grpSpPr>
        <p:sp>
          <p:nvSpPr>
            <p:cNvPr id="99" name="Google Shape;99;p1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" name="Google Shape;101;p13"/>
          <p:cNvGrpSpPr/>
          <p:nvPr/>
        </p:nvGrpSpPr>
        <p:grpSpPr>
          <a:xfrm>
            <a:off x="12744482" y="1504605"/>
            <a:ext cx="1892038" cy="1892038"/>
            <a:chOff x="0" y="0"/>
            <a:chExt cx="812800" cy="812800"/>
          </a:xfrm>
        </p:grpSpPr>
        <p:sp>
          <p:nvSpPr>
            <p:cNvPr id="102" name="Google Shape;102;p1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4" name="Google Shape;104;p13"/>
          <p:cNvGrpSpPr/>
          <p:nvPr/>
        </p:nvGrpSpPr>
        <p:grpSpPr>
          <a:xfrm>
            <a:off x="15344946" y="6400189"/>
            <a:ext cx="884434" cy="884434"/>
            <a:chOff x="0" y="0"/>
            <a:chExt cx="812800" cy="812800"/>
          </a:xfrm>
        </p:grpSpPr>
        <p:sp>
          <p:nvSpPr>
            <p:cNvPr id="105" name="Google Shape;105;p1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7" name="Google Shape;107;p13"/>
          <p:cNvGrpSpPr/>
          <p:nvPr/>
        </p:nvGrpSpPr>
        <p:grpSpPr>
          <a:xfrm>
            <a:off x="637067" y="3608432"/>
            <a:ext cx="3070135" cy="3070135"/>
            <a:chOff x="0" y="0"/>
            <a:chExt cx="812800" cy="812800"/>
          </a:xfrm>
        </p:grpSpPr>
        <p:sp>
          <p:nvSpPr>
            <p:cNvPr id="108" name="Google Shape;108;p1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0" name="Google Shape;110;p13"/>
          <p:cNvSpPr txBox="1"/>
          <p:nvPr/>
        </p:nvSpPr>
        <p:spPr>
          <a:xfrm>
            <a:off x="16050268" y="9473025"/>
            <a:ext cx="724046" cy="242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  <p:sp>
        <p:nvSpPr>
          <p:cNvPr id="111" name="Google Shape;111;p13"/>
          <p:cNvSpPr txBox="1"/>
          <p:nvPr/>
        </p:nvSpPr>
        <p:spPr>
          <a:xfrm>
            <a:off x="16774314" y="9473025"/>
            <a:ext cx="354591" cy="2416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01</a:t>
            </a:r>
            <a:endParaRPr/>
          </a:p>
        </p:txBody>
      </p:sp>
      <p:pic>
        <p:nvPicPr>
          <p:cNvPr descr="A blue and white logo&#10;&#10;Description automatically generated" id="112" name="Google Shape;11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3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 u="none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 u="none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19" name="Google Shape;119;p14"/>
          <p:cNvGrpSpPr/>
          <p:nvPr/>
        </p:nvGrpSpPr>
        <p:grpSpPr>
          <a:xfrm>
            <a:off x="16774314" y="2306583"/>
            <a:ext cx="1892038" cy="1892038"/>
            <a:chOff x="0" y="0"/>
            <a:chExt cx="812800" cy="812800"/>
          </a:xfrm>
        </p:grpSpPr>
        <p:sp>
          <p:nvSpPr>
            <p:cNvPr id="120" name="Google Shape;120;p1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4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123" name="Google Shape;123;p1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4"/>
          <p:cNvSpPr txBox="1"/>
          <p:nvPr/>
        </p:nvSpPr>
        <p:spPr>
          <a:xfrm>
            <a:off x="8503923" y="7024254"/>
            <a:ext cx="794653" cy="840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6" name="Google Shape;126;p14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127" name="Google Shape;127;p1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" name="Google Shape;128;p1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9" name="Google Shape;129;p14"/>
          <p:cNvSpPr txBox="1"/>
          <p:nvPr/>
        </p:nvSpPr>
        <p:spPr>
          <a:xfrm>
            <a:off x="16050268" y="9473025"/>
            <a:ext cx="724046" cy="242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  <p:sp>
        <p:nvSpPr>
          <p:cNvPr id="130" name="Google Shape;130;p14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02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5966173" y="1938845"/>
            <a:ext cx="6355654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Introduction</a:t>
            </a:r>
            <a:endParaRPr/>
          </a:p>
        </p:txBody>
      </p:sp>
      <p:pic>
        <p:nvPicPr>
          <p:cNvPr descr="A blue and white logo&#10;&#10;Description automatically generated" id="132" name="Google Shape;13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4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4" name="Google Shape;134;p14"/>
          <p:cNvSpPr txBox="1"/>
          <p:nvPr/>
        </p:nvSpPr>
        <p:spPr>
          <a:xfrm>
            <a:off x="2438400" y="3684128"/>
            <a:ext cx="134112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Objective</a:t>
            </a:r>
            <a:r>
              <a:rPr b="1" lang="en-US" sz="44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b="0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Added 5 core features to enhance Zarf Token utility</a:t>
            </a:r>
            <a:endParaRPr/>
          </a:p>
        </p:txBody>
      </p:sp>
      <p:grpSp>
        <p:nvGrpSpPr>
          <p:cNvPr id="135" name="Google Shape;135;p14"/>
          <p:cNvGrpSpPr/>
          <p:nvPr/>
        </p:nvGrpSpPr>
        <p:grpSpPr>
          <a:xfrm>
            <a:off x="5105400" y="4554270"/>
            <a:ext cx="2872738" cy="2609323"/>
            <a:chOff x="3816852" y="2905020"/>
            <a:chExt cx="1462770" cy="1462770"/>
          </a:xfrm>
        </p:grpSpPr>
        <p:sp>
          <p:nvSpPr>
            <p:cNvPr id="136" name="Google Shape;136;p14"/>
            <p:cNvSpPr/>
            <p:nvPr/>
          </p:nvSpPr>
          <p:spPr>
            <a:xfrm>
              <a:off x="3890305" y="2978472"/>
              <a:ext cx="1315865" cy="1315866"/>
            </a:xfrm>
            <a:prstGeom prst="flowChartConnector">
              <a:avLst/>
            </a:prstGeom>
            <a:solidFill>
              <a:srgbClr val="24096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14"/>
            <p:cNvSpPr/>
            <p:nvPr/>
          </p:nvSpPr>
          <p:spPr>
            <a:xfrm>
              <a:off x="3984854" y="3084384"/>
              <a:ext cx="1104042" cy="1104042"/>
            </a:xfrm>
            <a:prstGeom prst="flowChartConnector">
              <a:avLst/>
            </a:prstGeom>
            <a:solidFill>
              <a:srgbClr val="EDE5FF"/>
            </a:solidFill>
            <a:ln cap="flat" cmpd="sng" w="12700">
              <a:solidFill>
                <a:srgbClr val="96979D"/>
              </a:solidFill>
              <a:prstDash val="solid"/>
              <a:miter lim="800000"/>
              <a:headEnd len="sm" w="sm" type="none"/>
              <a:tailEnd len="sm" w="sm" type="none"/>
            </a:ln>
            <a:effectLst>
              <a:outerShdw blurRad="254000" rotWithShape="0" algn="t" dir="5400000" dist="76200">
                <a:srgbClr val="000000">
                  <a:alpha val="54509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Calibri"/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14"/>
            <p:cNvSpPr/>
            <p:nvPr/>
          </p:nvSpPr>
          <p:spPr>
            <a:xfrm>
              <a:off x="3816852" y="2905020"/>
              <a:ext cx="1462770" cy="1462770"/>
            </a:xfrm>
            <a:prstGeom prst="flowChartConnector">
              <a:avLst/>
            </a:prstGeom>
            <a:noFill/>
            <a:ln cap="flat" cmpd="sng" w="19050">
              <a:solidFill>
                <a:srgbClr val="7D7D7D"/>
              </a:solidFill>
              <a:prstDash val="dot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9" name="Google Shape;139;p14"/>
          <p:cNvSpPr txBox="1"/>
          <p:nvPr/>
        </p:nvSpPr>
        <p:spPr>
          <a:xfrm>
            <a:off x="5577402" y="5432593"/>
            <a:ext cx="1928733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10857"/>
                </a:solidFill>
                <a:latin typeface="Montserrat"/>
                <a:ea typeface="Montserrat"/>
                <a:cs typeface="Montserrat"/>
                <a:sym typeface="Montserrat"/>
              </a:rPr>
              <a:t>My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10857"/>
                </a:solidFill>
                <a:latin typeface="Montserrat"/>
                <a:ea typeface="Montserrat"/>
                <a:cs typeface="Montserrat"/>
                <a:sym typeface="Montserrat"/>
              </a:rPr>
              <a:t>Reservations</a:t>
            </a:r>
            <a:endParaRPr/>
          </a:p>
        </p:txBody>
      </p:sp>
      <p:grpSp>
        <p:nvGrpSpPr>
          <p:cNvPr id="140" name="Google Shape;140;p14"/>
          <p:cNvGrpSpPr/>
          <p:nvPr/>
        </p:nvGrpSpPr>
        <p:grpSpPr>
          <a:xfrm>
            <a:off x="7675789" y="6707930"/>
            <a:ext cx="2872738" cy="2609323"/>
            <a:chOff x="3816852" y="2905020"/>
            <a:chExt cx="1462770" cy="1462770"/>
          </a:xfrm>
        </p:grpSpPr>
        <p:sp>
          <p:nvSpPr>
            <p:cNvPr id="141" name="Google Shape;141;p14"/>
            <p:cNvSpPr/>
            <p:nvPr/>
          </p:nvSpPr>
          <p:spPr>
            <a:xfrm>
              <a:off x="3890305" y="2978472"/>
              <a:ext cx="1315865" cy="1315866"/>
            </a:xfrm>
            <a:prstGeom prst="flowChartConnector">
              <a:avLst/>
            </a:prstGeom>
            <a:solidFill>
              <a:srgbClr val="24096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14"/>
            <p:cNvSpPr/>
            <p:nvPr/>
          </p:nvSpPr>
          <p:spPr>
            <a:xfrm>
              <a:off x="3984854" y="3084384"/>
              <a:ext cx="1104042" cy="1104042"/>
            </a:xfrm>
            <a:prstGeom prst="flowChartConnector">
              <a:avLst/>
            </a:prstGeom>
            <a:solidFill>
              <a:srgbClr val="EDE5FF"/>
            </a:solidFill>
            <a:ln cap="flat" cmpd="sng" w="12700">
              <a:solidFill>
                <a:srgbClr val="96979D"/>
              </a:solidFill>
              <a:prstDash val="solid"/>
              <a:miter lim="800000"/>
              <a:headEnd len="sm" w="sm" type="none"/>
              <a:tailEnd len="sm" w="sm" type="none"/>
            </a:ln>
            <a:effectLst>
              <a:outerShdw blurRad="254000" rotWithShape="0" algn="t" dir="5400000" dist="76200">
                <a:srgbClr val="000000">
                  <a:alpha val="54509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Calibri"/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14"/>
            <p:cNvSpPr/>
            <p:nvPr/>
          </p:nvSpPr>
          <p:spPr>
            <a:xfrm>
              <a:off x="3816852" y="2905020"/>
              <a:ext cx="1462770" cy="1462770"/>
            </a:xfrm>
            <a:prstGeom prst="flowChartConnector">
              <a:avLst/>
            </a:prstGeom>
            <a:noFill/>
            <a:ln cap="flat" cmpd="sng" w="19050">
              <a:solidFill>
                <a:srgbClr val="7D7D7D"/>
              </a:solidFill>
              <a:prstDash val="dot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4" name="Google Shape;144;p14"/>
          <p:cNvSpPr txBox="1"/>
          <p:nvPr/>
        </p:nvSpPr>
        <p:spPr>
          <a:xfrm>
            <a:off x="8121018" y="7657931"/>
            <a:ext cx="1928734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10857"/>
                </a:solidFill>
                <a:latin typeface="Montserrat"/>
                <a:ea typeface="Montserrat"/>
                <a:cs typeface="Montserrat"/>
                <a:sym typeface="Montserrat"/>
              </a:rPr>
              <a:t>Cancelling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10857"/>
                </a:solidFill>
                <a:latin typeface="Montserrat"/>
                <a:ea typeface="Montserrat"/>
                <a:cs typeface="Montserrat"/>
                <a:sym typeface="Montserrat"/>
              </a:rPr>
              <a:t>Reservations</a:t>
            </a:r>
            <a:endParaRPr/>
          </a:p>
        </p:txBody>
      </p:sp>
      <p:grpSp>
        <p:nvGrpSpPr>
          <p:cNvPr id="145" name="Google Shape;145;p14"/>
          <p:cNvGrpSpPr/>
          <p:nvPr/>
        </p:nvGrpSpPr>
        <p:grpSpPr>
          <a:xfrm>
            <a:off x="10351247" y="4481875"/>
            <a:ext cx="2872738" cy="2609323"/>
            <a:chOff x="3816852" y="2905020"/>
            <a:chExt cx="1462770" cy="1462770"/>
          </a:xfrm>
        </p:grpSpPr>
        <p:sp>
          <p:nvSpPr>
            <p:cNvPr id="146" name="Google Shape;146;p14"/>
            <p:cNvSpPr/>
            <p:nvPr/>
          </p:nvSpPr>
          <p:spPr>
            <a:xfrm>
              <a:off x="3890305" y="2978472"/>
              <a:ext cx="1315865" cy="1315866"/>
            </a:xfrm>
            <a:prstGeom prst="flowChartConnector">
              <a:avLst/>
            </a:prstGeom>
            <a:solidFill>
              <a:srgbClr val="24096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14"/>
            <p:cNvSpPr/>
            <p:nvPr/>
          </p:nvSpPr>
          <p:spPr>
            <a:xfrm>
              <a:off x="3984854" y="3084384"/>
              <a:ext cx="1104042" cy="1104042"/>
            </a:xfrm>
            <a:prstGeom prst="flowChartConnector">
              <a:avLst/>
            </a:prstGeom>
            <a:solidFill>
              <a:srgbClr val="EDE5FF"/>
            </a:solidFill>
            <a:ln cap="flat" cmpd="sng" w="12700">
              <a:solidFill>
                <a:srgbClr val="96979D"/>
              </a:solidFill>
              <a:prstDash val="solid"/>
              <a:miter lim="800000"/>
              <a:headEnd len="sm" w="sm" type="none"/>
              <a:tailEnd len="sm" w="sm" type="none"/>
            </a:ln>
            <a:effectLst>
              <a:outerShdw blurRad="254000" rotWithShape="0" algn="t" dir="5400000" dist="76200">
                <a:srgbClr val="000000">
                  <a:alpha val="54509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Calibri"/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14"/>
            <p:cNvSpPr/>
            <p:nvPr/>
          </p:nvSpPr>
          <p:spPr>
            <a:xfrm>
              <a:off x="3816852" y="2905020"/>
              <a:ext cx="1462770" cy="1462770"/>
            </a:xfrm>
            <a:prstGeom prst="flowChartConnector">
              <a:avLst/>
            </a:prstGeom>
            <a:noFill/>
            <a:ln cap="flat" cmpd="sng" w="19050">
              <a:solidFill>
                <a:srgbClr val="7D7D7D"/>
              </a:solidFill>
              <a:prstDash val="dot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9" name="Google Shape;149;p14"/>
          <p:cNvSpPr txBox="1"/>
          <p:nvPr/>
        </p:nvSpPr>
        <p:spPr>
          <a:xfrm>
            <a:off x="11014620" y="5408028"/>
            <a:ext cx="1500732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10857"/>
                </a:solidFill>
                <a:latin typeface="Montserrat"/>
                <a:ea typeface="Montserrat"/>
                <a:cs typeface="Montserrat"/>
                <a:sym typeface="Montserrat"/>
              </a:rPr>
              <a:t>Password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10857"/>
                </a:solidFill>
                <a:latin typeface="Montserrat"/>
                <a:ea typeface="Montserrat"/>
                <a:cs typeface="Montserrat"/>
                <a:sym typeface="Montserrat"/>
              </a:rPr>
              <a:t>Recovery</a:t>
            </a:r>
            <a:endParaRPr/>
          </a:p>
        </p:txBody>
      </p:sp>
      <p:grpSp>
        <p:nvGrpSpPr>
          <p:cNvPr id="150" name="Google Shape;150;p14"/>
          <p:cNvGrpSpPr/>
          <p:nvPr/>
        </p:nvGrpSpPr>
        <p:grpSpPr>
          <a:xfrm>
            <a:off x="12908605" y="6707213"/>
            <a:ext cx="2872738" cy="2609323"/>
            <a:chOff x="3816852" y="2905020"/>
            <a:chExt cx="1462770" cy="1462770"/>
          </a:xfrm>
        </p:grpSpPr>
        <p:sp>
          <p:nvSpPr>
            <p:cNvPr id="151" name="Google Shape;151;p14"/>
            <p:cNvSpPr/>
            <p:nvPr/>
          </p:nvSpPr>
          <p:spPr>
            <a:xfrm>
              <a:off x="3890305" y="2978472"/>
              <a:ext cx="1315865" cy="1315866"/>
            </a:xfrm>
            <a:prstGeom prst="flowChartConnector">
              <a:avLst/>
            </a:prstGeom>
            <a:solidFill>
              <a:srgbClr val="24096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14"/>
            <p:cNvSpPr/>
            <p:nvPr/>
          </p:nvSpPr>
          <p:spPr>
            <a:xfrm>
              <a:off x="3984854" y="3084384"/>
              <a:ext cx="1104042" cy="1104042"/>
            </a:xfrm>
            <a:prstGeom prst="flowChartConnector">
              <a:avLst/>
            </a:prstGeom>
            <a:solidFill>
              <a:srgbClr val="EDE5FF"/>
            </a:solidFill>
            <a:ln cap="flat" cmpd="sng" w="12700">
              <a:solidFill>
                <a:srgbClr val="96979D"/>
              </a:solidFill>
              <a:prstDash val="solid"/>
              <a:miter lim="800000"/>
              <a:headEnd len="sm" w="sm" type="none"/>
              <a:tailEnd len="sm" w="sm" type="none"/>
            </a:ln>
            <a:effectLst>
              <a:outerShdw blurRad="254000" rotWithShape="0" algn="t" dir="5400000" dist="76200">
                <a:srgbClr val="000000">
                  <a:alpha val="54509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Calibri"/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14"/>
            <p:cNvSpPr/>
            <p:nvPr/>
          </p:nvSpPr>
          <p:spPr>
            <a:xfrm>
              <a:off x="3816852" y="2905020"/>
              <a:ext cx="1462770" cy="1462770"/>
            </a:xfrm>
            <a:prstGeom prst="flowChartConnector">
              <a:avLst/>
            </a:prstGeom>
            <a:noFill/>
            <a:ln cap="flat" cmpd="sng" w="19050">
              <a:solidFill>
                <a:srgbClr val="7D7D7D"/>
              </a:solidFill>
              <a:prstDash val="dot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4" name="Google Shape;154;p14"/>
          <p:cNvSpPr txBox="1"/>
          <p:nvPr/>
        </p:nvSpPr>
        <p:spPr>
          <a:xfrm>
            <a:off x="13391027" y="7605475"/>
            <a:ext cx="1907894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10857"/>
                </a:solidFill>
                <a:latin typeface="Montserrat"/>
                <a:ea typeface="Montserrat"/>
                <a:cs typeface="Montserrat"/>
                <a:sym typeface="Montserrat"/>
              </a:rPr>
              <a:t>Free-Spot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10857"/>
                </a:solidFill>
                <a:latin typeface="Montserrat"/>
                <a:ea typeface="Montserrat"/>
                <a:cs typeface="Montserrat"/>
                <a:sym typeface="Montserrat"/>
              </a:rPr>
              <a:t>Notifications</a:t>
            </a:r>
            <a:endParaRPr/>
          </a:p>
        </p:txBody>
      </p:sp>
      <p:grpSp>
        <p:nvGrpSpPr>
          <p:cNvPr id="155" name="Google Shape;155;p14"/>
          <p:cNvGrpSpPr/>
          <p:nvPr/>
        </p:nvGrpSpPr>
        <p:grpSpPr>
          <a:xfrm>
            <a:off x="2398927" y="6622402"/>
            <a:ext cx="2872738" cy="2609323"/>
            <a:chOff x="3816852" y="2905020"/>
            <a:chExt cx="1462770" cy="1462770"/>
          </a:xfrm>
        </p:grpSpPr>
        <p:sp>
          <p:nvSpPr>
            <p:cNvPr id="156" name="Google Shape;156;p14"/>
            <p:cNvSpPr/>
            <p:nvPr/>
          </p:nvSpPr>
          <p:spPr>
            <a:xfrm>
              <a:off x="3890305" y="2978472"/>
              <a:ext cx="1315865" cy="1315866"/>
            </a:xfrm>
            <a:prstGeom prst="flowChartConnector">
              <a:avLst/>
            </a:prstGeom>
            <a:solidFill>
              <a:srgbClr val="24096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14"/>
            <p:cNvSpPr/>
            <p:nvPr/>
          </p:nvSpPr>
          <p:spPr>
            <a:xfrm>
              <a:off x="3984854" y="3084384"/>
              <a:ext cx="1104042" cy="1104042"/>
            </a:xfrm>
            <a:prstGeom prst="flowChartConnector">
              <a:avLst/>
            </a:prstGeom>
            <a:solidFill>
              <a:srgbClr val="EDE5FF"/>
            </a:solidFill>
            <a:ln cap="flat" cmpd="sng" w="12700">
              <a:solidFill>
                <a:srgbClr val="96979D"/>
              </a:solidFill>
              <a:prstDash val="solid"/>
              <a:miter lim="800000"/>
              <a:headEnd len="sm" w="sm" type="none"/>
              <a:tailEnd len="sm" w="sm" type="none"/>
            </a:ln>
            <a:effectLst>
              <a:outerShdw blurRad="254000" rotWithShape="0" algn="t" dir="5400000" dist="76200">
                <a:srgbClr val="000000">
                  <a:alpha val="54509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400"/>
                <a:buFont typeface="Calibri"/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14"/>
            <p:cNvSpPr/>
            <p:nvPr/>
          </p:nvSpPr>
          <p:spPr>
            <a:xfrm>
              <a:off x="3816852" y="2905020"/>
              <a:ext cx="1462770" cy="1462770"/>
            </a:xfrm>
            <a:prstGeom prst="flowChartConnector">
              <a:avLst/>
            </a:prstGeom>
            <a:noFill/>
            <a:ln cap="flat" cmpd="sng" w="19050">
              <a:solidFill>
                <a:srgbClr val="7D7D7D"/>
              </a:solidFill>
              <a:prstDash val="dot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9" name="Google Shape;159;p14"/>
          <p:cNvSpPr txBox="1"/>
          <p:nvPr/>
        </p:nvSpPr>
        <p:spPr>
          <a:xfrm>
            <a:off x="3143568" y="7657931"/>
            <a:ext cx="1338828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10857"/>
                </a:solidFill>
                <a:latin typeface="Montserrat"/>
                <a:ea typeface="Montserrat"/>
                <a:cs typeface="Montserrat"/>
                <a:sym typeface="Montserrat"/>
              </a:rPr>
              <a:t>Court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10857"/>
                </a:solidFill>
                <a:latin typeface="Montserrat"/>
                <a:ea typeface="Montserrat"/>
                <a:cs typeface="Montserrat"/>
                <a:sym typeface="Montserrat"/>
              </a:rPr>
              <a:t>Creation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5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5" name="Google Shape;165;p15"/>
          <p:cNvGrpSpPr/>
          <p:nvPr/>
        </p:nvGrpSpPr>
        <p:grpSpPr>
          <a:xfrm>
            <a:off x="16774314" y="2306583"/>
            <a:ext cx="1892038" cy="1892038"/>
            <a:chOff x="0" y="0"/>
            <a:chExt cx="812800" cy="812800"/>
          </a:xfrm>
        </p:grpSpPr>
        <p:sp>
          <p:nvSpPr>
            <p:cNvPr id="166" name="Google Shape;166;p15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8" name="Google Shape;168;p15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169" name="Google Shape;169;p15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1" name="Google Shape;171;p15"/>
          <p:cNvSpPr txBox="1"/>
          <p:nvPr/>
        </p:nvSpPr>
        <p:spPr>
          <a:xfrm>
            <a:off x="8503923" y="7024254"/>
            <a:ext cx="794653" cy="840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2" name="Google Shape;172;p15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173" name="Google Shape;173;p15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1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5" name="Google Shape;175;p15"/>
          <p:cNvSpPr txBox="1"/>
          <p:nvPr/>
        </p:nvSpPr>
        <p:spPr>
          <a:xfrm>
            <a:off x="16050268" y="9473025"/>
            <a:ext cx="724046" cy="242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  <p:sp>
        <p:nvSpPr>
          <p:cNvPr id="176" name="Google Shape;176;p15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03</a:t>
            </a:r>
            <a:endParaRPr/>
          </a:p>
        </p:txBody>
      </p:sp>
      <p:sp>
        <p:nvSpPr>
          <p:cNvPr id="177" name="Google Shape;177;p15"/>
          <p:cNvSpPr txBox="1"/>
          <p:nvPr/>
        </p:nvSpPr>
        <p:spPr>
          <a:xfrm>
            <a:off x="5150546" y="184899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Court</a:t>
            </a:r>
            <a:endParaRPr/>
          </a:p>
        </p:txBody>
      </p:sp>
      <p:sp>
        <p:nvSpPr>
          <p:cNvPr id="178" name="Google Shape;178;p15"/>
          <p:cNvSpPr txBox="1"/>
          <p:nvPr/>
        </p:nvSpPr>
        <p:spPr>
          <a:xfrm>
            <a:off x="6828272" y="2699917"/>
            <a:ext cx="4145955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Creation</a:t>
            </a:r>
            <a:endParaRPr/>
          </a:p>
        </p:txBody>
      </p:sp>
      <p:pic>
        <p:nvPicPr>
          <p:cNvPr descr="A blue and white logo&#10;&#10;Description automatically generated" id="179" name="Google Shape;17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5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1" name="Google Shape;181;p15"/>
          <p:cNvSpPr txBox="1"/>
          <p:nvPr/>
        </p:nvSpPr>
        <p:spPr>
          <a:xfrm>
            <a:off x="3941091" y="3781177"/>
            <a:ext cx="104058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There is no streamlined way for the Events Office to create or manage sports courts.</a:t>
            </a:r>
            <a:endParaRPr b="0" sz="3600">
              <a:solidFill>
                <a:srgbClr val="2409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2" name="Google Shape;18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1079" y="5580327"/>
            <a:ext cx="6840350" cy="37283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6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8" name="Google Shape;188;p16"/>
          <p:cNvGrpSpPr/>
          <p:nvPr/>
        </p:nvGrpSpPr>
        <p:grpSpPr>
          <a:xfrm>
            <a:off x="16774314" y="2306583"/>
            <a:ext cx="1892038" cy="1892038"/>
            <a:chOff x="0" y="0"/>
            <a:chExt cx="812800" cy="812800"/>
          </a:xfrm>
        </p:grpSpPr>
        <p:sp>
          <p:nvSpPr>
            <p:cNvPr id="189" name="Google Shape;189;p16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1" name="Google Shape;191;p16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192" name="Google Shape;192;p16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" name="Google Shape;193;p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4" name="Google Shape;194;p16"/>
          <p:cNvSpPr txBox="1"/>
          <p:nvPr/>
        </p:nvSpPr>
        <p:spPr>
          <a:xfrm>
            <a:off x="8503923" y="7024254"/>
            <a:ext cx="794653" cy="840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5" name="Google Shape;195;p16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196" name="Google Shape;196;p16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" name="Google Shape;197;p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8" name="Google Shape;198;p16"/>
          <p:cNvSpPr txBox="1"/>
          <p:nvPr/>
        </p:nvSpPr>
        <p:spPr>
          <a:xfrm>
            <a:off x="16050268" y="9473025"/>
            <a:ext cx="724046" cy="242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  <p:sp>
        <p:nvSpPr>
          <p:cNvPr id="199" name="Google Shape;199;p16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04</a:t>
            </a:r>
            <a:endParaRPr/>
          </a:p>
        </p:txBody>
      </p:sp>
      <p:sp>
        <p:nvSpPr>
          <p:cNvPr id="200" name="Google Shape;200;p16"/>
          <p:cNvSpPr txBox="1"/>
          <p:nvPr/>
        </p:nvSpPr>
        <p:spPr>
          <a:xfrm>
            <a:off x="5150546" y="184899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Court</a:t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6828272" y="2699917"/>
            <a:ext cx="4145955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Creation</a:t>
            </a:r>
            <a:endParaRPr/>
          </a:p>
        </p:txBody>
      </p:sp>
      <p:pic>
        <p:nvPicPr>
          <p:cNvPr descr="A blue and white logo&#10;&#10;Description automatically generated" id="202" name="Google Shape;2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6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4" name="Google Shape;204;p16"/>
          <p:cNvSpPr txBox="1"/>
          <p:nvPr/>
        </p:nvSpPr>
        <p:spPr>
          <a:xfrm>
            <a:off x="3110459" y="5615337"/>
            <a:ext cx="113910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NOW! </a:t>
            </a:r>
            <a:r>
              <a:rPr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The Events Office can dynamically create and list new courts by simply defining the </a:t>
            </a:r>
            <a:r>
              <a:rPr b="1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Name</a:t>
            </a:r>
            <a:r>
              <a:rPr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Type</a:t>
            </a:r>
            <a:r>
              <a:rPr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, and uploading an </a:t>
            </a:r>
            <a:r>
              <a:rPr b="1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Image</a:t>
            </a:r>
            <a:r>
              <a:rPr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1" sz="3600">
              <a:solidFill>
                <a:srgbClr val="2409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light bulb with a bullet inside&#10;&#10;Description automatically generated" id="205" name="Google Shape;205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88989" y="3680018"/>
            <a:ext cx="1634014" cy="16340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7"/>
          <p:cNvSpPr/>
          <p:nvPr/>
        </p:nvSpPr>
        <p:spPr>
          <a:xfrm>
            <a:off x="0" y="2306583"/>
            <a:ext cx="16774200" cy="7408200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1" name="Google Shape;211;p17"/>
          <p:cNvGrpSpPr/>
          <p:nvPr/>
        </p:nvGrpSpPr>
        <p:grpSpPr>
          <a:xfrm>
            <a:off x="16774314" y="2306583"/>
            <a:ext cx="1892038" cy="1892038"/>
            <a:chOff x="0" y="0"/>
            <a:chExt cx="812800" cy="812800"/>
          </a:xfrm>
        </p:grpSpPr>
        <p:sp>
          <p:nvSpPr>
            <p:cNvPr id="212" name="Google Shape;212;p17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17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215" name="Google Shape;215;p17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17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218" name="Google Shape;218;p17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0" name="Google Shape;220;p17"/>
          <p:cNvSpPr txBox="1"/>
          <p:nvPr/>
        </p:nvSpPr>
        <p:spPr>
          <a:xfrm>
            <a:off x="16050268" y="9473025"/>
            <a:ext cx="724046" cy="242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  <p:sp>
        <p:nvSpPr>
          <p:cNvPr id="221" name="Google Shape;221;p17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05</a:t>
            </a:r>
            <a:endParaRPr/>
          </a:p>
        </p:txBody>
      </p:sp>
      <p:sp>
        <p:nvSpPr>
          <p:cNvPr id="222" name="Google Shape;222;p17"/>
          <p:cNvSpPr txBox="1"/>
          <p:nvPr/>
        </p:nvSpPr>
        <p:spPr>
          <a:xfrm>
            <a:off x="5150546" y="184899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Court</a:t>
            </a:r>
            <a:endParaRPr/>
          </a:p>
        </p:txBody>
      </p:sp>
      <p:sp>
        <p:nvSpPr>
          <p:cNvPr id="223" name="Google Shape;223;p17"/>
          <p:cNvSpPr txBox="1"/>
          <p:nvPr/>
        </p:nvSpPr>
        <p:spPr>
          <a:xfrm>
            <a:off x="6828272" y="2699917"/>
            <a:ext cx="4145955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Creation</a:t>
            </a:r>
            <a:endParaRPr/>
          </a:p>
        </p:txBody>
      </p:sp>
      <p:pic>
        <p:nvPicPr>
          <p:cNvPr descr="A blue and white logo&#10;&#10;Description automatically generated" id="224" name="Google Shape;2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17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6" name="Google Shape;226;p17"/>
          <p:cNvSpPr/>
          <p:nvPr/>
        </p:nvSpPr>
        <p:spPr>
          <a:xfrm>
            <a:off x="1359091" y="5860589"/>
            <a:ext cx="4566540" cy="1731995"/>
          </a:xfrm>
          <a:prstGeom prst="roundRect">
            <a:avLst>
              <a:gd fmla="val 16667" name="adj"/>
            </a:avLst>
          </a:prstGeom>
          <a:solidFill>
            <a:srgbClr val="7D81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Allows the Events Office to simply add new facilities to the system without needing technical support.</a:t>
            </a:r>
            <a:endParaRPr/>
          </a:p>
        </p:txBody>
      </p:sp>
      <p:sp>
        <p:nvSpPr>
          <p:cNvPr id="227" name="Google Shape;227;p17"/>
          <p:cNvSpPr/>
          <p:nvPr/>
        </p:nvSpPr>
        <p:spPr>
          <a:xfrm>
            <a:off x="6369664" y="5892920"/>
            <a:ext cx="4566540" cy="1731995"/>
          </a:xfrm>
          <a:prstGeom prst="roundRect">
            <a:avLst>
              <a:gd fmla="val 16667" name="adj"/>
            </a:avLst>
          </a:prstGeom>
          <a:solidFill>
            <a:srgbClr val="7D81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Defines specific attributes like Name and Type to ensure accurate categorization for bookings.</a:t>
            </a:r>
            <a:endParaRPr/>
          </a:p>
        </p:txBody>
      </p:sp>
      <p:sp>
        <p:nvSpPr>
          <p:cNvPr id="228" name="Google Shape;228;p17"/>
          <p:cNvSpPr/>
          <p:nvPr/>
        </p:nvSpPr>
        <p:spPr>
          <a:xfrm>
            <a:off x="11380237" y="5892497"/>
            <a:ext cx="4566540" cy="1731995"/>
          </a:xfrm>
          <a:prstGeom prst="roundRect">
            <a:avLst>
              <a:gd fmla="val 16667" name="adj"/>
            </a:avLst>
          </a:prstGeom>
          <a:solidFill>
            <a:srgbClr val="7D81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Immediately makes the new court available on the platform for students to view and book.</a:t>
            </a:r>
            <a:endParaRPr/>
          </a:p>
        </p:txBody>
      </p:sp>
      <p:sp>
        <p:nvSpPr>
          <p:cNvPr id="229" name="Google Shape;229;p17"/>
          <p:cNvSpPr txBox="1"/>
          <p:nvPr/>
        </p:nvSpPr>
        <p:spPr>
          <a:xfrm>
            <a:off x="6709265" y="5343992"/>
            <a:ext cx="3887338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Custom Configuration</a:t>
            </a:r>
            <a:endParaRPr/>
          </a:p>
        </p:txBody>
      </p:sp>
      <p:sp>
        <p:nvSpPr>
          <p:cNvPr id="230" name="Google Shape;230;p17"/>
          <p:cNvSpPr txBox="1"/>
          <p:nvPr/>
        </p:nvSpPr>
        <p:spPr>
          <a:xfrm>
            <a:off x="1963165" y="5314489"/>
            <a:ext cx="3329758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Seamless Addition</a:t>
            </a:r>
            <a:endParaRPr/>
          </a:p>
        </p:txBody>
      </p:sp>
      <p:sp>
        <p:nvSpPr>
          <p:cNvPr id="231" name="Google Shape;231;p17"/>
          <p:cNvSpPr txBox="1"/>
          <p:nvPr/>
        </p:nvSpPr>
        <p:spPr>
          <a:xfrm>
            <a:off x="11960478" y="5382531"/>
            <a:ext cx="340274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Instant Availability</a:t>
            </a:r>
            <a:endParaRPr/>
          </a:p>
        </p:txBody>
      </p:sp>
      <p:pic>
        <p:nvPicPr>
          <p:cNvPr descr="A green check mark in a circle&#10;&#10;Description automatically generated" id="232" name="Google Shape;232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24976" y="3924300"/>
            <a:ext cx="2562048" cy="1537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8"/>
          <p:cNvSpPr/>
          <p:nvPr/>
        </p:nvSpPr>
        <p:spPr>
          <a:xfrm>
            <a:off x="0" y="2306583"/>
            <a:ext cx="16774200" cy="7408200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8" name="Google Shape;238;p18"/>
          <p:cNvGrpSpPr/>
          <p:nvPr/>
        </p:nvGrpSpPr>
        <p:grpSpPr>
          <a:xfrm>
            <a:off x="16774314" y="2306583"/>
            <a:ext cx="1892038" cy="1892038"/>
            <a:chOff x="0" y="0"/>
            <a:chExt cx="812800" cy="812800"/>
          </a:xfrm>
        </p:grpSpPr>
        <p:sp>
          <p:nvSpPr>
            <p:cNvPr id="239" name="Google Shape;239;p18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0" name="Google Shape;240;p1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1" name="Google Shape;241;p18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242" name="Google Shape;242;p18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3" name="Google Shape;243;p1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4" name="Google Shape;244;p18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245" name="Google Shape;245;p18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7" name="Google Shape;247;p18"/>
          <p:cNvSpPr txBox="1"/>
          <p:nvPr/>
        </p:nvSpPr>
        <p:spPr>
          <a:xfrm>
            <a:off x="16050268" y="9473025"/>
            <a:ext cx="724046" cy="242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  <p:sp>
        <p:nvSpPr>
          <p:cNvPr id="248" name="Google Shape;248;p18"/>
          <p:cNvSpPr txBox="1"/>
          <p:nvPr/>
        </p:nvSpPr>
        <p:spPr>
          <a:xfrm>
            <a:off x="16774314" y="9473025"/>
            <a:ext cx="354591" cy="2416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06</a:t>
            </a:r>
            <a:endParaRPr/>
          </a:p>
        </p:txBody>
      </p:sp>
      <p:sp>
        <p:nvSpPr>
          <p:cNvPr id="249" name="Google Shape;249;p18"/>
          <p:cNvSpPr txBox="1"/>
          <p:nvPr/>
        </p:nvSpPr>
        <p:spPr>
          <a:xfrm>
            <a:off x="5150546" y="184899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Court</a:t>
            </a:r>
            <a:endParaRPr/>
          </a:p>
        </p:txBody>
      </p:sp>
      <p:sp>
        <p:nvSpPr>
          <p:cNvPr id="250" name="Google Shape;250;p18"/>
          <p:cNvSpPr txBox="1"/>
          <p:nvPr/>
        </p:nvSpPr>
        <p:spPr>
          <a:xfrm>
            <a:off x="6828272" y="2699917"/>
            <a:ext cx="4145955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Creation</a:t>
            </a:r>
            <a:endParaRPr/>
          </a:p>
        </p:txBody>
      </p:sp>
      <p:pic>
        <p:nvPicPr>
          <p:cNvPr descr="A blue and white logo&#10;&#10;Description automatically generated" id="251" name="Google Shape;25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8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3" name="Google Shape;253;p18"/>
          <p:cNvSpPr txBox="1"/>
          <p:nvPr/>
        </p:nvSpPr>
        <p:spPr>
          <a:xfrm>
            <a:off x="925725" y="5635676"/>
            <a:ext cx="15951048" cy="757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759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Court Creation Image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9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9" name="Google Shape;259;p19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260" name="Google Shape;260;p19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1" name="Google Shape;261;p1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2" name="Google Shape;262;p19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07</a:t>
            </a:r>
            <a:endParaRPr/>
          </a:p>
        </p:txBody>
      </p:sp>
      <p:sp>
        <p:nvSpPr>
          <p:cNvPr id="263" name="Google Shape;263;p19"/>
          <p:cNvSpPr txBox="1"/>
          <p:nvPr/>
        </p:nvSpPr>
        <p:spPr>
          <a:xfrm>
            <a:off x="5488545" y="1850707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Court</a:t>
            </a:r>
            <a:endParaRPr/>
          </a:p>
        </p:txBody>
      </p:sp>
      <p:sp>
        <p:nvSpPr>
          <p:cNvPr id="264" name="Google Shape;264;p19"/>
          <p:cNvSpPr txBox="1"/>
          <p:nvPr/>
        </p:nvSpPr>
        <p:spPr>
          <a:xfrm>
            <a:off x="6533073" y="2700108"/>
            <a:ext cx="5221853" cy="745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Reservation</a:t>
            </a:r>
            <a:endParaRPr/>
          </a:p>
        </p:txBody>
      </p:sp>
      <p:grpSp>
        <p:nvGrpSpPr>
          <p:cNvPr id="265" name="Google Shape;265;p19"/>
          <p:cNvGrpSpPr/>
          <p:nvPr/>
        </p:nvGrpSpPr>
        <p:grpSpPr>
          <a:xfrm>
            <a:off x="16092687" y="1979148"/>
            <a:ext cx="1892038" cy="1892038"/>
            <a:chOff x="0" y="0"/>
            <a:chExt cx="812800" cy="812800"/>
          </a:xfrm>
        </p:grpSpPr>
        <p:sp>
          <p:nvSpPr>
            <p:cNvPr id="266" name="Google Shape;266;p19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p1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215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8" name="Google Shape;268;p19"/>
          <p:cNvGrpSpPr/>
          <p:nvPr/>
        </p:nvGrpSpPr>
        <p:grpSpPr>
          <a:xfrm>
            <a:off x="148754" y="2145498"/>
            <a:ext cx="1256320" cy="1256320"/>
            <a:chOff x="0" y="0"/>
            <a:chExt cx="812800" cy="812800"/>
          </a:xfrm>
        </p:grpSpPr>
        <p:sp>
          <p:nvSpPr>
            <p:cNvPr id="269" name="Google Shape;269;p19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0" name="Google Shape;270;p1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descr="A person in a tie&#10;&#10;Description automatically generated" id="271" name="Google Shape;27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20438" y="4863588"/>
            <a:ext cx="1649948" cy="17277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red question mark on a black background&#10;&#10;Description automatically generated" id="272" name="Google Shape;272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1693100">
            <a:off x="3112978" y="4196986"/>
            <a:ext cx="1110136" cy="111013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9"/>
          <p:cNvSpPr txBox="1"/>
          <p:nvPr/>
        </p:nvSpPr>
        <p:spPr>
          <a:xfrm>
            <a:off x="3772718" y="5120747"/>
            <a:ext cx="11314882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Students</a:t>
            </a:r>
            <a:r>
              <a:rPr b="0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 currently have no way to track their booking status or view their upcoming schedule. </a:t>
            </a:r>
            <a:endParaRPr/>
          </a:p>
        </p:txBody>
      </p:sp>
      <p:pic>
        <p:nvPicPr>
          <p:cNvPr descr="A blue and white logo&#10;&#10;Description automatically generated" id="274" name="Google Shape;27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19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6" name="Google Shape;276;p19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0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0"/>
          <p:cNvSpPr txBox="1"/>
          <p:nvPr/>
        </p:nvSpPr>
        <p:spPr>
          <a:xfrm>
            <a:off x="3086918" y="5120747"/>
            <a:ext cx="11314882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NOW! </a:t>
            </a:r>
            <a:r>
              <a:rPr b="0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Students Can easily view all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court reservations</a:t>
            </a:r>
            <a:r>
              <a:rPr b="1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	.</a:t>
            </a:r>
            <a:endParaRPr/>
          </a:p>
        </p:txBody>
      </p:sp>
      <p:grpSp>
        <p:nvGrpSpPr>
          <p:cNvPr id="283" name="Google Shape;283;p20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284" name="Google Shape;284;p20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5" name="Google Shape;285;p2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6" name="Google Shape;286;p20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08</a:t>
            </a:r>
            <a:endParaRPr/>
          </a:p>
        </p:txBody>
      </p:sp>
      <p:sp>
        <p:nvSpPr>
          <p:cNvPr id="287" name="Google Shape;287;p20"/>
          <p:cNvSpPr txBox="1"/>
          <p:nvPr/>
        </p:nvSpPr>
        <p:spPr>
          <a:xfrm>
            <a:off x="5488545" y="1850707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Court</a:t>
            </a:r>
            <a:endParaRPr/>
          </a:p>
        </p:txBody>
      </p:sp>
      <p:sp>
        <p:nvSpPr>
          <p:cNvPr id="288" name="Google Shape;288;p20"/>
          <p:cNvSpPr txBox="1"/>
          <p:nvPr/>
        </p:nvSpPr>
        <p:spPr>
          <a:xfrm>
            <a:off x="6533073" y="2700108"/>
            <a:ext cx="5221853" cy="745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Reservation</a:t>
            </a:r>
            <a:endParaRPr/>
          </a:p>
        </p:txBody>
      </p:sp>
      <p:grpSp>
        <p:nvGrpSpPr>
          <p:cNvPr id="289" name="Google Shape;289;p20"/>
          <p:cNvGrpSpPr/>
          <p:nvPr/>
        </p:nvGrpSpPr>
        <p:grpSpPr>
          <a:xfrm>
            <a:off x="16092687" y="1979148"/>
            <a:ext cx="1892038" cy="1892038"/>
            <a:chOff x="0" y="0"/>
            <a:chExt cx="812800" cy="812800"/>
          </a:xfrm>
        </p:grpSpPr>
        <p:sp>
          <p:nvSpPr>
            <p:cNvPr id="290" name="Google Shape;290;p20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1" name="Google Shape;291;p2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215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2" name="Google Shape;292;p20"/>
          <p:cNvGrpSpPr/>
          <p:nvPr/>
        </p:nvGrpSpPr>
        <p:grpSpPr>
          <a:xfrm>
            <a:off x="148754" y="2145498"/>
            <a:ext cx="1256320" cy="1256320"/>
            <a:chOff x="0" y="0"/>
            <a:chExt cx="812800" cy="812800"/>
          </a:xfrm>
        </p:grpSpPr>
        <p:sp>
          <p:nvSpPr>
            <p:cNvPr id="293" name="Google Shape;293;p20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2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5" name="Google Shape;295;p20"/>
          <p:cNvSpPr txBox="1"/>
          <p:nvPr/>
        </p:nvSpPr>
        <p:spPr>
          <a:xfrm>
            <a:off x="4658941" y="7800426"/>
            <a:ext cx="2395967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So That,</a:t>
            </a:r>
            <a:endParaRPr/>
          </a:p>
        </p:txBody>
      </p:sp>
      <p:sp>
        <p:nvSpPr>
          <p:cNvPr id="296" name="Google Shape;296;p20"/>
          <p:cNvSpPr/>
          <p:nvPr/>
        </p:nvSpPr>
        <p:spPr>
          <a:xfrm>
            <a:off x="6858000" y="6972300"/>
            <a:ext cx="1358980" cy="1242672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rgbClr val="2409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0"/>
          <p:cNvSpPr/>
          <p:nvPr/>
        </p:nvSpPr>
        <p:spPr>
          <a:xfrm flipH="1" rot="10800000">
            <a:off x="6858000" y="8214411"/>
            <a:ext cx="1358980" cy="1242672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rgbClr val="2409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0"/>
          <p:cNvSpPr txBox="1"/>
          <p:nvPr/>
        </p:nvSpPr>
        <p:spPr>
          <a:xfrm>
            <a:off x="8293495" y="7021516"/>
            <a:ext cx="3562707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Track Date &amp; Time</a:t>
            </a:r>
            <a:endParaRPr/>
          </a:p>
        </p:txBody>
      </p:sp>
      <p:sp>
        <p:nvSpPr>
          <p:cNvPr id="299" name="Google Shape;299;p20"/>
          <p:cNvSpPr txBox="1"/>
          <p:nvPr/>
        </p:nvSpPr>
        <p:spPr>
          <a:xfrm>
            <a:off x="8293495" y="8835747"/>
            <a:ext cx="4123245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2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Identify Court number</a:t>
            </a:r>
            <a:endParaRPr/>
          </a:p>
        </p:txBody>
      </p:sp>
      <p:pic>
        <p:nvPicPr>
          <p:cNvPr descr="A blue and white logo&#10;&#10;Description automatically generated" id="300" name="Google Shape;30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0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A light bulb with a bullet inside&#10;&#10;Description automatically generated" id="302" name="Google Shape;30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57600" y="4496387"/>
            <a:ext cx="1634014" cy="1634014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20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1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09" name="Google Shape;309;p21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310" name="Google Shape;310;p21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1" name="Google Shape;311;p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12" name="Google Shape;312;p21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09</a:t>
            </a:r>
            <a:endParaRPr/>
          </a:p>
        </p:txBody>
      </p:sp>
      <p:sp>
        <p:nvSpPr>
          <p:cNvPr id="313" name="Google Shape;313;p21"/>
          <p:cNvSpPr txBox="1"/>
          <p:nvPr/>
        </p:nvSpPr>
        <p:spPr>
          <a:xfrm>
            <a:off x="5488545" y="185027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Reservation</a:t>
            </a:r>
            <a:endParaRPr/>
          </a:p>
        </p:txBody>
      </p:sp>
      <p:sp>
        <p:nvSpPr>
          <p:cNvPr id="314" name="Google Shape;314;p21"/>
          <p:cNvSpPr txBox="1"/>
          <p:nvPr/>
        </p:nvSpPr>
        <p:spPr>
          <a:xfrm>
            <a:off x="6533072" y="2700108"/>
            <a:ext cx="5221853" cy="745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Cancelling</a:t>
            </a:r>
            <a:endParaRPr/>
          </a:p>
        </p:txBody>
      </p:sp>
      <p:grpSp>
        <p:nvGrpSpPr>
          <p:cNvPr id="315" name="Google Shape;315;p21"/>
          <p:cNvGrpSpPr/>
          <p:nvPr/>
        </p:nvGrpSpPr>
        <p:grpSpPr>
          <a:xfrm>
            <a:off x="16092687" y="1979148"/>
            <a:ext cx="1892038" cy="1892038"/>
            <a:chOff x="0" y="0"/>
            <a:chExt cx="812800" cy="812800"/>
          </a:xfrm>
        </p:grpSpPr>
        <p:sp>
          <p:nvSpPr>
            <p:cNvPr id="316" name="Google Shape;316;p21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7" name="Google Shape;317;p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215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8" name="Google Shape;318;p21"/>
          <p:cNvGrpSpPr/>
          <p:nvPr/>
        </p:nvGrpSpPr>
        <p:grpSpPr>
          <a:xfrm>
            <a:off x="148754" y="2145498"/>
            <a:ext cx="1256320" cy="1256320"/>
            <a:chOff x="0" y="0"/>
            <a:chExt cx="812800" cy="812800"/>
          </a:xfrm>
        </p:grpSpPr>
        <p:sp>
          <p:nvSpPr>
            <p:cNvPr id="319" name="Google Shape;319;p21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0" name="Google Shape;320;p2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descr="A person in a tie&#10;&#10;Description automatically generated" id="321" name="Google Shape;3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20438" y="4863588"/>
            <a:ext cx="1649948" cy="172771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red question mark on a black background&#10;&#10;Description automatically generated" id="322" name="Google Shape;32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1693100">
            <a:off x="3112978" y="4196986"/>
            <a:ext cx="1110136" cy="1110136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21"/>
          <p:cNvSpPr txBox="1"/>
          <p:nvPr/>
        </p:nvSpPr>
        <p:spPr>
          <a:xfrm>
            <a:off x="3772718" y="5120747"/>
            <a:ext cx="11314882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Students </a:t>
            </a:r>
            <a:r>
              <a:rPr b="0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cannot remove unwanted bookings, leading to wasted court slots and blocked access for others. </a:t>
            </a:r>
            <a:endParaRPr/>
          </a:p>
        </p:txBody>
      </p:sp>
      <p:pic>
        <p:nvPicPr>
          <p:cNvPr descr="A blue and white logo&#10;&#10;Description automatically generated" id="324" name="Google Shape;324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21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26" name="Google Shape;326;p21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22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green check mark in a circle&#10;&#10;Description automatically generated" id="332" name="Google Shape;33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42441" y="4680758"/>
            <a:ext cx="3488953" cy="209337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33" name="Google Shape;333;p22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334" name="Google Shape;334;p2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5" name="Google Shape;335;p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6" name="Google Shape;336;p22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r>
            <a:endParaRPr/>
          </a:p>
        </p:txBody>
      </p:sp>
      <p:grpSp>
        <p:nvGrpSpPr>
          <p:cNvPr id="337" name="Google Shape;337;p22"/>
          <p:cNvGrpSpPr/>
          <p:nvPr/>
        </p:nvGrpSpPr>
        <p:grpSpPr>
          <a:xfrm>
            <a:off x="16092687" y="1979148"/>
            <a:ext cx="1892038" cy="1892038"/>
            <a:chOff x="0" y="0"/>
            <a:chExt cx="812800" cy="812800"/>
          </a:xfrm>
        </p:grpSpPr>
        <p:sp>
          <p:nvSpPr>
            <p:cNvPr id="338" name="Google Shape;338;p2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9" name="Google Shape;339;p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215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0" name="Google Shape;340;p22"/>
          <p:cNvGrpSpPr/>
          <p:nvPr/>
        </p:nvGrpSpPr>
        <p:grpSpPr>
          <a:xfrm>
            <a:off x="148754" y="2145498"/>
            <a:ext cx="1256320" cy="1256320"/>
            <a:chOff x="0" y="0"/>
            <a:chExt cx="812800" cy="812800"/>
          </a:xfrm>
        </p:grpSpPr>
        <p:sp>
          <p:nvSpPr>
            <p:cNvPr id="341" name="Google Shape;341;p2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3" name="Google Shape;343;p22"/>
          <p:cNvSpPr txBox="1"/>
          <p:nvPr/>
        </p:nvSpPr>
        <p:spPr>
          <a:xfrm>
            <a:off x="3704849" y="5171428"/>
            <a:ext cx="10878298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Provided a seamless cancellation button that optimizes court availability</a:t>
            </a:r>
            <a:endParaRPr/>
          </a:p>
        </p:txBody>
      </p:sp>
      <p:pic>
        <p:nvPicPr>
          <p:cNvPr descr="A black and white image of a bicycle&#10;&#10;Description automatically generated" id="344" name="Google Shape;344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67600" y="6682932"/>
            <a:ext cx="2560073" cy="256007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red stamp with black background&#10;&#10;Description automatically generated" id="345" name="Google Shape;345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81511" y="7229125"/>
            <a:ext cx="3137450" cy="142268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and white logo&#10;&#10;Description automatically generated" id="346" name="Google Shape;346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22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8" name="Google Shape;348;p22"/>
          <p:cNvSpPr txBox="1"/>
          <p:nvPr/>
        </p:nvSpPr>
        <p:spPr>
          <a:xfrm>
            <a:off x="5488545" y="185027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Reservation</a:t>
            </a:r>
            <a:endParaRPr/>
          </a:p>
        </p:txBody>
      </p:sp>
      <p:sp>
        <p:nvSpPr>
          <p:cNvPr id="349" name="Google Shape;349;p22"/>
          <p:cNvSpPr txBox="1"/>
          <p:nvPr/>
        </p:nvSpPr>
        <p:spPr>
          <a:xfrm>
            <a:off x="6533072" y="2700108"/>
            <a:ext cx="5221853" cy="745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Cancelling</a:t>
            </a:r>
            <a:endParaRPr/>
          </a:p>
        </p:txBody>
      </p:sp>
      <p:sp>
        <p:nvSpPr>
          <p:cNvPr id="350" name="Google Shape;350;p22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23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3"/>
          <p:cNvSpPr txBox="1"/>
          <p:nvPr/>
        </p:nvSpPr>
        <p:spPr>
          <a:xfrm>
            <a:off x="-499498" y="1957178"/>
            <a:ext cx="14152523" cy="4835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3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11</a:t>
            </a:r>
            <a:endParaRPr/>
          </a:p>
        </p:txBody>
      </p:sp>
      <p:sp>
        <p:nvSpPr>
          <p:cNvPr id="358" name="Google Shape;358;p23"/>
          <p:cNvSpPr/>
          <p:nvPr/>
        </p:nvSpPr>
        <p:spPr>
          <a:xfrm>
            <a:off x="-200032" y="-828192"/>
            <a:ext cx="3713783" cy="3713783"/>
          </a:xfrm>
          <a:custGeom>
            <a:rect b="b" l="l" r="r" t="t"/>
            <a:pathLst>
              <a:path extrusionOk="0" h="3713783" w="3713783">
                <a:moveTo>
                  <a:pt x="0" y="0"/>
                </a:moveTo>
                <a:lnTo>
                  <a:pt x="3713784" y="0"/>
                </a:lnTo>
                <a:lnTo>
                  <a:pt x="3713784" y="3713784"/>
                </a:lnTo>
                <a:lnTo>
                  <a:pt x="0" y="3713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9" name="Google Shape;359;p23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360" name="Google Shape;360;p2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1" name="Google Shape;361;p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2" name="Google Shape;362;p23"/>
          <p:cNvGrpSpPr/>
          <p:nvPr/>
        </p:nvGrpSpPr>
        <p:grpSpPr>
          <a:xfrm>
            <a:off x="17294531" y="7048500"/>
            <a:ext cx="1256320" cy="1256320"/>
            <a:chOff x="0" y="0"/>
            <a:chExt cx="812800" cy="812800"/>
          </a:xfrm>
        </p:grpSpPr>
        <p:sp>
          <p:nvSpPr>
            <p:cNvPr id="363" name="Google Shape;363;p2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4" name="Google Shape;364;p2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65" name="Google Shape;365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44345" y="3517672"/>
            <a:ext cx="14999306" cy="6151135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3"/>
          <p:cNvSpPr txBox="1"/>
          <p:nvPr/>
        </p:nvSpPr>
        <p:spPr>
          <a:xfrm>
            <a:off x="5488545" y="185027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Reservation</a:t>
            </a:r>
            <a:endParaRPr/>
          </a:p>
        </p:txBody>
      </p:sp>
      <p:sp>
        <p:nvSpPr>
          <p:cNvPr id="367" name="Google Shape;367;p23"/>
          <p:cNvSpPr txBox="1"/>
          <p:nvPr/>
        </p:nvSpPr>
        <p:spPr>
          <a:xfrm>
            <a:off x="6533072" y="2700108"/>
            <a:ext cx="5221853" cy="745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  <p:sp>
        <p:nvSpPr>
          <p:cNvPr id="368" name="Google Shape;368;p23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4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4" name="Google Shape;374;p24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375" name="Google Shape;375;p2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6" name="Google Shape;376;p2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" name="Google Shape;377;p24"/>
          <p:cNvSpPr txBox="1"/>
          <p:nvPr/>
        </p:nvSpPr>
        <p:spPr>
          <a:xfrm>
            <a:off x="5150546" y="5507908"/>
            <a:ext cx="8754936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No secure mechanism exists for users to regain access after losing their password.</a:t>
            </a:r>
            <a:endParaRPr/>
          </a:p>
        </p:txBody>
      </p:sp>
      <p:sp>
        <p:nvSpPr>
          <p:cNvPr id="378" name="Google Shape;378;p24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12</a:t>
            </a:r>
            <a:endParaRPr/>
          </a:p>
        </p:txBody>
      </p:sp>
      <p:sp>
        <p:nvSpPr>
          <p:cNvPr id="379" name="Google Shape;379;p24"/>
          <p:cNvSpPr txBox="1"/>
          <p:nvPr/>
        </p:nvSpPr>
        <p:spPr>
          <a:xfrm>
            <a:off x="5150546" y="184899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Change</a:t>
            </a:r>
            <a:endParaRPr/>
          </a:p>
        </p:txBody>
      </p:sp>
      <p:sp>
        <p:nvSpPr>
          <p:cNvPr id="380" name="Google Shape;380;p24"/>
          <p:cNvSpPr txBox="1"/>
          <p:nvPr/>
        </p:nvSpPr>
        <p:spPr>
          <a:xfrm>
            <a:off x="6589147" y="2699917"/>
            <a:ext cx="4433705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Password</a:t>
            </a:r>
            <a:endParaRPr/>
          </a:p>
        </p:txBody>
      </p:sp>
      <p:grpSp>
        <p:nvGrpSpPr>
          <p:cNvPr id="381" name="Google Shape;381;p24"/>
          <p:cNvGrpSpPr/>
          <p:nvPr/>
        </p:nvGrpSpPr>
        <p:grpSpPr>
          <a:xfrm>
            <a:off x="16092687" y="1979148"/>
            <a:ext cx="1892038" cy="1892038"/>
            <a:chOff x="0" y="0"/>
            <a:chExt cx="812800" cy="812800"/>
          </a:xfrm>
        </p:grpSpPr>
        <p:sp>
          <p:nvSpPr>
            <p:cNvPr id="382" name="Google Shape;382;p2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" name="Google Shape;383;p2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215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" name="Google Shape;384;p24"/>
          <p:cNvGrpSpPr/>
          <p:nvPr/>
        </p:nvGrpSpPr>
        <p:grpSpPr>
          <a:xfrm>
            <a:off x="148754" y="2145498"/>
            <a:ext cx="1256320" cy="1256320"/>
            <a:chOff x="0" y="0"/>
            <a:chExt cx="812800" cy="812800"/>
          </a:xfrm>
        </p:grpSpPr>
        <p:sp>
          <p:nvSpPr>
            <p:cNvPr id="385" name="Google Shape;385;p2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descr="A blue and white logo&#10;&#10;Description automatically generated" id="387" name="Google Shape;38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24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89" name="Google Shape;38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18853" y="5143500"/>
            <a:ext cx="1929147" cy="1929147"/>
          </a:xfrm>
          <a:prstGeom prst="rect">
            <a:avLst/>
          </a:prstGeom>
          <a:noFill/>
          <a:ln>
            <a:noFill/>
          </a:ln>
        </p:spPr>
      </p:pic>
      <p:sp>
        <p:nvSpPr>
          <p:cNvPr id="390" name="Google Shape;390;p24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5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96" name="Google Shape;396;p25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397" name="Google Shape;397;p25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8" name="Google Shape;398;p2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99" name="Google Shape;399;p25"/>
          <p:cNvSpPr txBox="1"/>
          <p:nvPr/>
        </p:nvSpPr>
        <p:spPr>
          <a:xfrm>
            <a:off x="4895213" y="4292799"/>
            <a:ext cx="8322871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Secure Access Recovery for All Users</a:t>
            </a:r>
            <a:endParaRPr/>
          </a:p>
        </p:txBody>
      </p:sp>
      <p:sp>
        <p:nvSpPr>
          <p:cNvPr id="400" name="Google Shape;400;p25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13</a:t>
            </a:r>
            <a:endParaRPr/>
          </a:p>
        </p:txBody>
      </p:sp>
      <p:sp>
        <p:nvSpPr>
          <p:cNvPr id="401" name="Google Shape;401;p25"/>
          <p:cNvSpPr txBox="1"/>
          <p:nvPr/>
        </p:nvSpPr>
        <p:spPr>
          <a:xfrm>
            <a:off x="5150546" y="184899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Change</a:t>
            </a:r>
            <a:endParaRPr/>
          </a:p>
        </p:txBody>
      </p:sp>
      <p:sp>
        <p:nvSpPr>
          <p:cNvPr id="402" name="Google Shape;402;p25"/>
          <p:cNvSpPr txBox="1"/>
          <p:nvPr/>
        </p:nvSpPr>
        <p:spPr>
          <a:xfrm>
            <a:off x="6589147" y="2699917"/>
            <a:ext cx="4433705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Password</a:t>
            </a:r>
            <a:endParaRPr/>
          </a:p>
        </p:txBody>
      </p:sp>
      <p:grpSp>
        <p:nvGrpSpPr>
          <p:cNvPr id="403" name="Google Shape;403;p25"/>
          <p:cNvGrpSpPr/>
          <p:nvPr/>
        </p:nvGrpSpPr>
        <p:grpSpPr>
          <a:xfrm>
            <a:off x="16092687" y="1979148"/>
            <a:ext cx="1892038" cy="1892038"/>
            <a:chOff x="0" y="0"/>
            <a:chExt cx="812800" cy="812800"/>
          </a:xfrm>
        </p:grpSpPr>
        <p:sp>
          <p:nvSpPr>
            <p:cNvPr id="404" name="Google Shape;404;p25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5" name="Google Shape;405;p2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215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06" name="Google Shape;406;p25"/>
          <p:cNvSpPr/>
          <p:nvPr/>
        </p:nvSpPr>
        <p:spPr>
          <a:xfrm>
            <a:off x="4711329" y="5359293"/>
            <a:ext cx="2471942" cy="6689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Calibri"/>
              <a:buNone/>
            </a:pPr>
            <a:r>
              <a:t/>
            </a:r>
            <a:endParaRPr b="1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25"/>
          <p:cNvSpPr/>
          <p:nvPr/>
        </p:nvSpPr>
        <p:spPr>
          <a:xfrm>
            <a:off x="9829492" y="5280290"/>
            <a:ext cx="2534414" cy="1256319"/>
          </a:xfrm>
          <a:custGeom>
            <a:rect b="b" l="l" r="r" t="t"/>
            <a:pathLst>
              <a:path extrusionOk="0" h="210" w="421">
                <a:moveTo>
                  <a:pt x="210" y="57"/>
                </a:moveTo>
                <a:cubicBezTo>
                  <a:pt x="295" y="57"/>
                  <a:pt x="364" y="126"/>
                  <a:pt x="364" y="210"/>
                </a:cubicBezTo>
                <a:cubicBezTo>
                  <a:pt x="421" y="210"/>
                  <a:pt x="421" y="210"/>
                  <a:pt x="421" y="210"/>
                </a:cubicBezTo>
                <a:cubicBezTo>
                  <a:pt x="421" y="93"/>
                  <a:pt x="327" y="0"/>
                  <a:pt x="210" y="0"/>
                </a:cubicBezTo>
                <a:cubicBezTo>
                  <a:pt x="93" y="0"/>
                  <a:pt x="0" y="93"/>
                  <a:pt x="0" y="210"/>
                </a:cubicBezTo>
                <a:cubicBezTo>
                  <a:pt x="57" y="210"/>
                  <a:pt x="57" y="210"/>
                  <a:pt x="57" y="210"/>
                </a:cubicBezTo>
                <a:cubicBezTo>
                  <a:pt x="57" y="126"/>
                  <a:pt x="126" y="57"/>
                  <a:pt x="210" y="57"/>
                </a:cubicBezTo>
                <a:close/>
              </a:path>
            </a:pathLst>
          </a:custGeom>
          <a:solidFill>
            <a:srgbClr val="7D81D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5"/>
          <p:cNvSpPr/>
          <p:nvPr/>
        </p:nvSpPr>
        <p:spPr>
          <a:xfrm flipH="1" rot="10800000">
            <a:off x="7647354" y="6536609"/>
            <a:ext cx="2534414" cy="1256319"/>
          </a:xfrm>
          <a:custGeom>
            <a:rect b="b" l="l" r="r" t="t"/>
            <a:pathLst>
              <a:path extrusionOk="0" h="210" w="421">
                <a:moveTo>
                  <a:pt x="210" y="57"/>
                </a:moveTo>
                <a:cubicBezTo>
                  <a:pt x="295" y="57"/>
                  <a:pt x="364" y="126"/>
                  <a:pt x="364" y="210"/>
                </a:cubicBezTo>
                <a:cubicBezTo>
                  <a:pt x="421" y="210"/>
                  <a:pt x="421" y="210"/>
                  <a:pt x="421" y="210"/>
                </a:cubicBezTo>
                <a:cubicBezTo>
                  <a:pt x="421" y="93"/>
                  <a:pt x="327" y="0"/>
                  <a:pt x="210" y="0"/>
                </a:cubicBezTo>
                <a:cubicBezTo>
                  <a:pt x="93" y="0"/>
                  <a:pt x="0" y="93"/>
                  <a:pt x="0" y="210"/>
                </a:cubicBezTo>
                <a:cubicBezTo>
                  <a:pt x="57" y="210"/>
                  <a:pt x="57" y="210"/>
                  <a:pt x="57" y="210"/>
                </a:cubicBezTo>
                <a:cubicBezTo>
                  <a:pt x="57" y="126"/>
                  <a:pt x="126" y="57"/>
                  <a:pt x="210" y="57"/>
                </a:cubicBezTo>
                <a:close/>
              </a:path>
            </a:pathLst>
          </a:custGeom>
          <a:solidFill>
            <a:srgbClr val="7D81D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5"/>
          <p:cNvSpPr/>
          <p:nvPr/>
        </p:nvSpPr>
        <p:spPr>
          <a:xfrm>
            <a:off x="5425502" y="5296411"/>
            <a:ext cx="2534414" cy="1256319"/>
          </a:xfrm>
          <a:custGeom>
            <a:rect b="b" l="l" r="r" t="t"/>
            <a:pathLst>
              <a:path extrusionOk="0" h="210" w="421">
                <a:moveTo>
                  <a:pt x="210" y="57"/>
                </a:moveTo>
                <a:cubicBezTo>
                  <a:pt x="295" y="57"/>
                  <a:pt x="364" y="126"/>
                  <a:pt x="364" y="210"/>
                </a:cubicBezTo>
                <a:cubicBezTo>
                  <a:pt x="421" y="210"/>
                  <a:pt x="421" y="210"/>
                  <a:pt x="421" y="210"/>
                </a:cubicBezTo>
                <a:cubicBezTo>
                  <a:pt x="421" y="93"/>
                  <a:pt x="327" y="0"/>
                  <a:pt x="210" y="0"/>
                </a:cubicBezTo>
                <a:cubicBezTo>
                  <a:pt x="93" y="0"/>
                  <a:pt x="0" y="93"/>
                  <a:pt x="0" y="210"/>
                </a:cubicBezTo>
                <a:cubicBezTo>
                  <a:pt x="57" y="210"/>
                  <a:pt x="57" y="210"/>
                  <a:pt x="57" y="210"/>
                </a:cubicBezTo>
                <a:cubicBezTo>
                  <a:pt x="57" y="126"/>
                  <a:pt x="126" y="57"/>
                  <a:pt x="210" y="57"/>
                </a:cubicBezTo>
                <a:close/>
              </a:path>
            </a:pathLst>
          </a:custGeom>
          <a:solidFill>
            <a:srgbClr val="7D81D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5"/>
          <p:cNvSpPr/>
          <p:nvPr/>
        </p:nvSpPr>
        <p:spPr>
          <a:xfrm>
            <a:off x="3245590" y="5260933"/>
            <a:ext cx="2534413" cy="1293779"/>
          </a:xfrm>
          <a:custGeom>
            <a:rect b="b" l="l" r="r" t="t"/>
            <a:pathLst>
              <a:path extrusionOk="0" h="210" w="421">
                <a:moveTo>
                  <a:pt x="210" y="57"/>
                </a:moveTo>
                <a:cubicBezTo>
                  <a:pt x="295" y="57"/>
                  <a:pt x="364" y="126"/>
                  <a:pt x="364" y="210"/>
                </a:cubicBezTo>
                <a:cubicBezTo>
                  <a:pt x="421" y="210"/>
                  <a:pt x="421" y="210"/>
                  <a:pt x="421" y="210"/>
                </a:cubicBezTo>
                <a:cubicBezTo>
                  <a:pt x="421" y="93"/>
                  <a:pt x="327" y="0"/>
                  <a:pt x="210" y="0"/>
                </a:cubicBezTo>
                <a:cubicBezTo>
                  <a:pt x="93" y="0"/>
                  <a:pt x="0" y="93"/>
                  <a:pt x="0" y="210"/>
                </a:cubicBezTo>
                <a:cubicBezTo>
                  <a:pt x="57" y="210"/>
                  <a:pt x="57" y="210"/>
                  <a:pt x="57" y="210"/>
                </a:cubicBezTo>
                <a:cubicBezTo>
                  <a:pt x="57" y="126"/>
                  <a:pt x="126" y="57"/>
                  <a:pt x="210" y="57"/>
                </a:cubicBezTo>
                <a:close/>
              </a:path>
            </a:pathLst>
          </a:custGeom>
          <a:solidFill>
            <a:srgbClr val="24096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5"/>
          <p:cNvSpPr/>
          <p:nvPr/>
        </p:nvSpPr>
        <p:spPr>
          <a:xfrm flipH="1" rot="10800000">
            <a:off x="3244638" y="6550870"/>
            <a:ext cx="2534414" cy="1256319"/>
          </a:xfrm>
          <a:custGeom>
            <a:rect b="b" l="l" r="r" t="t"/>
            <a:pathLst>
              <a:path extrusionOk="0" h="210" w="421">
                <a:moveTo>
                  <a:pt x="210" y="57"/>
                </a:moveTo>
                <a:cubicBezTo>
                  <a:pt x="295" y="57"/>
                  <a:pt x="364" y="126"/>
                  <a:pt x="364" y="210"/>
                </a:cubicBezTo>
                <a:cubicBezTo>
                  <a:pt x="421" y="210"/>
                  <a:pt x="421" y="210"/>
                  <a:pt x="421" y="210"/>
                </a:cubicBezTo>
                <a:cubicBezTo>
                  <a:pt x="421" y="93"/>
                  <a:pt x="327" y="0"/>
                  <a:pt x="210" y="0"/>
                </a:cubicBezTo>
                <a:cubicBezTo>
                  <a:pt x="93" y="0"/>
                  <a:pt x="0" y="93"/>
                  <a:pt x="0" y="210"/>
                </a:cubicBezTo>
                <a:cubicBezTo>
                  <a:pt x="57" y="210"/>
                  <a:pt x="57" y="210"/>
                  <a:pt x="57" y="210"/>
                </a:cubicBezTo>
                <a:cubicBezTo>
                  <a:pt x="57" y="126"/>
                  <a:pt x="126" y="57"/>
                  <a:pt x="210" y="57"/>
                </a:cubicBezTo>
                <a:close/>
              </a:path>
            </a:pathLst>
          </a:custGeom>
          <a:solidFill>
            <a:srgbClr val="7D81D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5"/>
          <p:cNvSpPr/>
          <p:nvPr/>
        </p:nvSpPr>
        <p:spPr>
          <a:xfrm flipH="1" rot="10800000">
            <a:off x="5437159" y="6554180"/>
            <a:ext cx="2538388" cy="1256319"/>
          </a:xfrm>
          <a:custGeom>
            <a:rect b="b" l="l" r="r" t="t"/>
            <a:pathLst>
              <a:path extrusionOk="0" h="210" w="421">
                <a:moveTo>
                  <a:pt x="210" y="57"/>
                </a:moveTo>
                <a:cubicBezTo>
                  <a:pt x="295" y="57"/>
                  <a:pt x="364" y="126"/>
                  <a:pt x="364" y="210"/>
                </a:cubicBezTo>
                <a:cubicBezTo>
                  <a:pt x="421" y="210"/>
                  <a:pt x="421" y="210"/>
                  <a:pt x="421" y="210"/>
                </a:cubicBezTo>
                <a:cubicBezTo>
                  <a:pt x="421" y="93"/>
                  <a:pt x="327" y="0"/>
                  <a:pt x="210" y="0"/>
                </a:cubicBezTo>
                <a:cubicBezTo>
                  <a:pt x="93" y="0"/>
                  <a:pt x="0" y="93"/>
                  <a:pt x="0" y="210"/>
                </a:cubicBezTo>
                <a:cubicBezTo>
                  <a:pt x="57" y="210"/>
                  <a:pt x="57" y="210"/>
                  <a:pt x="57" y="210"/>
                </a:cubicBezTo>
                <a:cubicBezTo>
                  <a:pt x="57" y="126"/>
                  <a:pt x="126" y="57"/>
                  <a:pt x="210" y="57"/>
                </a:cubicBezTo>
                <a:close/>
              </a:path>
            </a:pathLst>
          </a:custGeom>
          <a:solidFill>
            <a:srgbClr val="24096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5"/>
          <p:cNvSpPr/>
          <p:nvPr/>
        </p:nvSpPr>
        <p:spPr>
          <a:xfrm>
            <a:off x="7639801" y="5297861"/>
            <a:ext cx="2534414" cy="1256319"/>
          </a:xfrm>
          <a:custGeom>
            <a:rect b="b" l="l" r="r" t="t"/>
            <a:pathLst>
              <a:path extrusionOk="0" h="210" w="421">
                <a:moveTo>
                  <a:pt x="210" y="57"/>
                </a:moveTo>
                <a:cubicBezTo>
                  <a:pt x="295" y="57"/>
                  <a:pt x="364" y="126"/>
                  <a:pt x="364" y="210"/>
                </a:cubicBezTo>
                <a:cubicBezTo>
                  <a:pt x="421" y="210"/>
                  <a:pt x="421" y="210"/>
                  <a:pt x="421" y="210"/>
                </a:cubicBezTo>
                <a:cubicBezTo>
                  <a:pt x="421" y="93"/>
                  <a:pt x="327" y="0"/>
                  <a:pt x="210" y="0"/>
                </a:cubicBezTo>
                <a:cubicBezTo>
                  <a:pt x="93" y="0"/>
                  <a:pt x="0" y="93"/>
                  <a:pt x="0" y="210"/>
                </a:cubicBezTo>
                <a:cubicBezTo>
                  <a:pt x="57" y="210"/>
                  <a:pt x="57" y="210"/>
                  <a:pt x="57" y="210"/>
                </a:cubicBezTo>
                <a:cubicBezTo>
                  <a:pt x="57" y="126"/>
                  <a:pt x="126" y="57"/>
                  <a:pt x="210" y="57"/>
                </a:cubicBezTo>
                <a:close/>
              </a:path>
            </a:pathLst>
          </a:custGeom>
          <a:solidFill>
            <a:srgbClr val="24096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25"/>
          <p:cNvSpPr/>
          <p:nvPr/>
        </p:nvSpPr>
        <p:spPr>
          <a:xfrm flipH="1" rot="10800000">
            <a:off x="12025036" y="6536609"/>
            <a:ext cx="2534414" cy="1256319"/>
          </a:xfrm>
          <a:custGeom>
            <a:rect b="b" l="l" r="r" t="t"/>
            <a:pathLst>
              <a:path extrusionOk="0" h="210" w="421">
                <a:moveTo>
                  <a:pt x="210" y="57"/>
                </a:moveTo>
                <a:cubicBezTo>
                  <a:pt x="295" y="57"/>
                  <a:pt x="364" y="126"/>
                  <a:pt x="364" y="210"/>
                </a:cubicBezTo>
                <a:cubicBezTo>
                  <a:pt x="421" y="210"/>
                  <a:pt x="421" y="210"/>
                  <a:pt x="421" y="210"/>
                </a:cubicBezTo>
                <a:cubicBezTo>
                  <a:pt x="421" y="93"/>
                  <a:pt x="327" y="0"/>
                  <a:pt x="210" y="0"/>
                </a:cubicBezTo>
                <a:cubicBezTo>
                  <a:pt x="93" y="0"/>
                  <a:pt x="0" y="93"/>
                  <a:pt x="0" y="210"/>
                </a:cubicBezTo>
                <a:cubicBezTo>
                  <a:pt x="57" y="210"/>
                  <a:pt x="57" y="210"/>
                  <a:pt x="57" y="210"/>
                </a:cubicBezTo>
                <a:cubicBezTo>
                  <a:pt x="57" y="126"/>
                  <a:pt x="126" y="57"/>
                  <a:pt x="210" y="57"/>
                </a:cubicBezTo>
                <a:close/>
              </a:path>
            </a:pathLst>
          </a:custGeom>
          <a:solidFill>
            <a:srgbClr val="7D81D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25"/>
          <p:cNvSpPr/>
          <p:nvPr/>
        </p:nvSpPr>
        <p:spPr>
          <a:xfrm flipH="1" rot="10800000">
            <a:off x="9832989" y="6538060"/>
            <a:ext cx="2534414" cy="1256319"/>
          </a:xfrm>
          <a:custGeom>
            <a:rect b="b" l="l" r="r" t="t"/>
            <a:pathLst>
              <a:path extrusionOk="0" h="210" w="421">
                <a:moveTo>
                  <a:pt x="210" y="57"/>
                </a:moveTo>
                <a:cubicBezTo>
                  <a:pt x="295" y="57"/>
                  <a:pt x="364" y="126"/>
                  <a:pt x="364" y="210"/>
                </a:cubicBezTo>
                <a:cubicBezTo>
                  <a:pt x="421" y="210"/>
                  <a:pt x="421" y="210"/>
                  <a:pt x="421" y="210"/>
                </a:cubicBezTo>
                <a:cubicBezTo>
                  <a:pt x="421" y="93"/>
                  <a:pt x="327" y="0"/>
                  <a:pt x="210" y="0"/>
                </a:cubicBezTo>
                <a:cubicBezTo>
                  <a:pt x="93" y="0"/>
                  <a:pt x="0" y="93"/>
                  <a:pt x="0" y="210"/>
                </a:cubicBezTo>
                <a:cubicBezTo>
                  <a:pt x="57" y="210"/>
                  <a:pt x="57" y="210"/>
                  <a:pt x="57" y="210"/>
                </a:cubicBezTo>
                <a:cubicBezTo>
                  <a:pt x="57" y="126"/>
                  <a:pt x="126" y="57"/>
                  <a:pt x="210" y="57"/>
                </a:cubicBezTo>
                <a:close/>
              </a:path>
            </a:pathLst>
          </a:custGeom>
          <a:solidFill>
            <a:srgbClr val="24096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5"/>
          <p:cNvSpPr/>
          <p:nvPr/>
        </p:nvSpPr>
        <p:spPr>
          <a:xfrm>
            <a:off x="12039600" y="5300975"/>
            <a:ext cx="2534414" cy="1256319"/>
          </a:xfrm>
          <a:custGeom>
            <a:rect b="b" l="l" r="r" t="t"/>
            <a:pathLst>
              <a:path extrusionOk="0" h="210" w="421">
                <a:moveTo>
                  <a:pt x="210" y="57"/>
                </a:moveTo>
                <a:cubicBezTo>
                  <a:pt x="295" y="57"/>
                  <a:pt x="364" y="126"/>
                  <a:pt x="364" y="210"/>
                </a:cubicBezTo>
                <a:cubicBezTo>
                  <a:pt x="421" y="210"/>
                  <a:pt x="421" y="210"/>
                  <a:pt x="421" y="210"/>
                </a:cubicBezTo>
                <a:cubicBezTo>
                  <a:pt x="421" y="93"/>
                  <a:pt x="327" y="0"/>
                  <a:pt x="210" y="0"/>
                </a:cubicBezTo>
                <a:cubicBezTo>
                  <a:pt x="93" y="0"/>
                  <a:pt x="0" y="93"/>
                  <a:pt x="0" y="210"/>
                </a:cubicBezTo>
                <a:cubicBezTo>
                  <a:pt x="57" y="210"/>
                  <a:pt x="57" y="210"/>
                  <a:pt x="57" y="210"/>
                </a:cubicBezTo>
                <a:cubicBezTo>
                  <a:pt x="57" y="126"/>
                  <a:pt x="126" y="57"/>
                  <a:pt x="210" y="57"/>
                </a:cubicBezTo>
                <a:close/>
              </a:path>
            </a:pathLst>
          </a:custGeom>
          <a:solidFill>
            <a:srgbClr val="24096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5"/>
          <p:cNvSpPr txBox="1"/>
          <p:nvPr/>
        </p:nvSpPr>
        <p:spPr>
          <a:xfrm>
            <a:off x="3624067" y="6233410"/>
            <a:ext cx="1640297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Student</a:t>
            </a:r>
            <a:endParaRPr/>
          </a:p>
        </p:txBody>
      </p:sp>
      <p:sp>
        <p:nvSpPr>
          <p:cNvPr id="418" name="Google Shape;418;p25"/>
          <p:cNvSpPr txBox="1"/>
          <p:nvPr/>
        </p:nvSpPr>
        <p:spPr>
          <a:xfrm>
            <a:off x="5929375" y="6246403"/>
            <a:ext cx="1514227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</a:t>
            </a:r>
            <a:endParaRPr/>
          </a:p>
        </p:txBody>
      </p:sp>
      <p:sp>
        <p:nvSpPr>
          <p:cNvPr id="419" name="Google Shape;419;p25"/>
          <p:cNvSpPr txBox="1"/>
          <p:nvPr/>
        </p:nvSpPr>
        <p:spPr>
          <a:xfrm>
            <a:off x="8321134" y="6273548"/>
            <a:ext cx="1104353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Staff</a:t>
            </a:r>
            <a:endParaRPr/>
          </a:p>
        </p:txBody>
      </p:sp>
      <p:sp>
        <p:nvSpPr>
          <p:cNvPr id="420" name="Google Shape;420;p25"/>
          <p:cNvSpPr txBox="1"/>
          <p:nvPr/>
        </p:nvSpPr>
        <p:spPr>
          <a:xfrm>
            <a:off x="10125835" y="6249418"/>
            <a:ext cx="20163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Professor</a:t>
            </a:r>
            <a:endParaRPr/>
          </a:p>
        </p:txBody>
      </p:sp>
      <p:sp>
        <p:nvSpPr>
          <p:cNvPr id="421" name="Google Shape;421;p25"/>
          <p:cNvSpPr txBox="1"/>
          <p:nvPr/>
        </p:nvSpPr>
        <p:spPr>
          <a:xfrm>
            <a:off x="12561928" y="6227927"/>
            <a:ext cx="151514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Vendor</a:t>
            </a:r>
            <a:endParaRPr/>
          </a:p>
        </p:txBody>
      </p:sp>
      <p:grpSp>
        <p:nvGrpSpPr>
          <p:cNvPr id="422" name="Google Shape;422;p25"/>
          <p:cNvGrpSpPr/>
          <p:nvPr/>
        </p:nvGrpSpPr>
        <p:grpSpPr>
          <a:xfrm>
            <a:off x="148754" y="2145498"/>
            <a:ext cx="1256320" cy="1256320"/>
            <a:chOff x="0" y="0"/>
            <a:chExt cx="812800" cy="812800"/>
          </a:xfrm>
        </p:grpSpPr>
        <p:sp>
          <p:nvSpPr>
            <p:cNvPr id="423" name="Google Shape;423;p25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424;p2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descr="A blue and white logo&#10;&#10;Description automatically generated" id="425" name="Google Shape;42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25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descr="A light bulb with a bullet inside&#10;&#10;Description automatically generated" id="427" name="Google Shape;427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25598" y="3693807"/>
            <a:ext cx="1634014" cy="1634014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25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26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6"/>
          <p:cNvSpPr txBox="1"/>
          <p:nvPr/>
        </p:nvSpPr>
        <p:spPr>
          <a:xfrm>
            <a:off x="-499498" y="1957178"/>
            <a:ext cx="14152523" cy="4835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5" name="Google Shape;435;p26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436" name="Google Shape;436;p26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7" name="Google Shape;437;p2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38" name="Google Shape;438;p26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14</a:t>
            </a:r>
            <a:endParaRPr/>
          </a:p>
        </p:txBody>
      </p:sp>
      <p:sp>
        <p:nvSpPr>
          <p:cNvPr id="439" name="Google Shape;439;p26"/>
          <p:cNvSpPr txBox="1"/>
          <p:nvPr/>
        </p:nvSpPr>
        <p:spPr>
          <a:xfrm>
            <a:off x="5150546" y="184899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Change</a:t>
            </a:r>
            <a:endParaRPr/>
          </a:p>
        </p:txBody>
      </p:sp>
      <p:sp>
        <p:nvSpPr>
          <p:cNvPr id="440" name="Google Shape;440;p26"/>
          <p:cNvSpPr txBox="1"/>
          <p:nvPr/>
        </p:nvSpPr>
        <p:spPr>
          <a:xfrm>
            <a:off x="6589147" y="2699917"/>
            <a:ext cx="4433705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Password</a:t>
            </a:r>
            <a:endParaRPr/>
          </a:p>
        </p:txBody>
      </p:sp>
      <p:sp>
        <p:nvSpPr>
          <p:cNvPr id="441" name="Google Shape;441;p26"/>
          <p:cNvSpPr/>
          <p:nvPr/>
        </p:nvSpPr>
        <p:spPr>
          <a:xfrm>
            <a:off x="2276718" y="4359646"/>
            <a:ext cx="5109664" cy="1256320"/>
          </a:xfrm>
          <a:prstGeom prst="roundRect">
            <a:avLst>
              <a:gd fmla="val 50000" name="adj"/>
            </a:avLst>
          </a:prstGeom>
          <a:solidFill>
            <a:srgbClr val="7D81D6"/>
          </a:solidFill>
          <a:ln cap="flat" cmpd="sng" w="12700">
            <a:solidFill>
              <a:srgbClr val="00515C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400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clicks "Forgot Password?"</a:t>
            </a:r>
            <a:endParaRPr/>
          </a:p>
        </p:txBody>
      </p:sp>
      <p:sp>
        <p:nvSpPr>
          <p:cNvPr id="442" name="Google Shape;442;p26"/>
          <p:cNvSpPr/>
          <p:nvPr/>
        </p:nvSpPr>
        <p:spPr>
          <a:xfrm>
            <a:off x="10476220" y="4362956"/>
            <a:ext cx="5109664" cy="1256320"/>
          </a:xfrm>
          <a:prstGeom prst="roundRect">
            <a:avLst>
              <a:gd fmla="val 50000" name="adj"/>
            </a:avLst>
          </a:prstGeom>
          <a:solidFill>
            <a:srgbClr val="7D81D6"/>
          </a:solidFill>
          <a:ln cap="flat" cmpd="sng" w="12700">
            <a:solidFill>
              <a:srgbClr val="00515C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400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Mail is sent to the user</a:t>
            </a:r>
            <a:endParaRPr/>
          </a:p>
        </p:txBody>
      </p:sp>
      <p:sp>
        <p:nvSpPr>
          <p:cNvPr id="443" name="Google Shape;443;p26"/>
          <p:cNvSpPr/>
          <p:nvPr/>
        </p:nvSpPr>
        <p:spPr>
          <a:xfrm>
            <a:off x="2305356" y="6110137"/>
            <a:ext cx="5109664" cy="1256320"/>
          </a:xfrm>
          <a:prstGeom prst="roundRect">
            <a:avLst>
              <a:gd fmla="val 50000" name="adj"/>
            </a:avLst>
          </a:prstGeom>
          <a:solidFill>
            <a:srgbClr val="7D81D6"/>
          </a:solidFill>
          <a:ln cap="flat" cmpd="sng" w="12700">
            <a:solidFill>
              <a:srgbClr val="00515C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400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User enters their registered Email</a:t>
            </a:r>
            <a:endParaRPr/>
          </a:p>
        </p:txBody>
      </p:sp>
      <p:sp>
        <p:nvSpPr>
          <p:cNvPr id="444" name="Google Shape;444;p26"/>
          <p:cNvSpPr/>
          <p:nvPr/>
        </p:nvSpPr>
        <p:spPr>
          <a:xfrm>
            <a:off x="10476220" y="6110137"/>
            <a:ext cx="5109664" cy="1256320"/>
          </a:xfrm>
          <a:prstGeom prst="roundRect">
            <a:avLst>
              <a:gd fmla="val 50000" name="adj"/>
            </a:avLst>
          </a:prstGeom>
          <a:solidFill>
            <a:srgbClr val="7D81D6"/>
          </a:solidFill>
          <a:ln cap="flat" cmpd="sng" w="12700">
            <a:solidFill>
              <a:srgbClr val="00515C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400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User updates his password</a:t>
            </a:r>
            <a:endParaRPr/>
          </a:p>
        </p:txBody>
      </p:sp>
      <p:sp>
        <p:nvSpPr>
          <p:cNvPr id="445" name="Google Shape;445;p26"/>
          <p:cNvSpPr/>
          <p:nvPr/>
        </p:nvSpPr>
        <p:spPr>
          <a:xfrm>
            <a:off x="2276718" y="7877401"/>
            <a:ext cx="5109664" cy="1256320"/>
          </a:xfrm>
          <a:prstGeom prst="roundRect">
            <a:avLst>
              <a:gd fmla="val 50000" name="adj"/>
            </a:avLst>
          </a:prstGeom>
          <a:solidFill>
            <a:srgbClr val="7D81D6"/>
          </a:solidFill>
          <a:ln cap="flat" cmpd="sng" w="12700">
            <a:solidFill>
              <a:srgbClr val="00515C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400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validates the user exists in the database</a:t>
            </a:r>
            <a:endParaRPr/>
          </a:p>
        </p:txBody>
      </p:sp>
      <p:sp>
        <p:nvSpPr>
          <p:cNvPr id="446" name="Google Shape;446;p26"/>
          <p:cNvSpPr/>
          <p:nvPr/>
        </p:nvSpPr>
        <p:spPr>
          <a:xfrm>
            <a:off x="10476220" y="7877401"/>
            <a:ext cx="5109664" cy="1256320"/>
          </a:xfrm>
          <a:prstGeom prst="roundRect">
            <a:avLst>
              <a:gd fmla="val 50000" name="adj"/>
            </a:avLst>
          </a:prstGeom>
          <a:solidFill>
            <a:srgbClr val="7D81D6"/>
          </a:solidFill>
          <a:ln cap="flat" cmpd="sng" w="12700">
            <a:solidFill>
              <a:srgbClr val="00515C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400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Database is updated, and the user is redirected to Login</a:t>
            </a:r>
            <a:endParaRPr/>
          </a:p>
        </p:txBody>
      </p:sp>
      <p:sp>
        <p:nvSpPr>
          <p:cNvPr id="447" name="Google Shape;447;p26"/>
          <p:cNvSpPr/>
          <p:nvPr/>
        </p:nvSpPr>
        <p:spPr>
          <a:xfrm>
            <a:off x="2276718" y="4356335"/>
            <a:ext cx="1215574" cy="1262941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rgbClr val="240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448" name="Google Shape;448;p26"/>
          <p:cNvSpPr/>
          <p:nvPr/>
        </p:nvSpPr>
        <p:spPr>
          <a:xfrm>
            <a:off x="2321029" y="6089854"/>
            <a:ext cx="1215574" cy="1262941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rgbClr val="240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449" name="Google Shape;449;p26"/>
          <p:cNvSpPr/>
          <p:nvPr/>
        </p:nvSpPr>
        <p:spPr>
          <a:xfrm>
            <a:off x="2283353" y="7870780"/>
            <a:ext cx="1215574" cy="1262941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rgbClr val="240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450" name="Google Shape;450;p26"/>
          <p:cNvSpPr/>
          <p:nvPr/>
        </p:nvSpPr>
        <p:spPr>
          <a:xfrm>
            <a:off x="10507671" y="6123599"/>
            <a:ext cx="1215574" cy="1262941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rgbClr val="240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451" name="Google Shape;451;p26"/>
          <p:cNvSpPr/>
          <p:nvPr/>
        </p:nvSpPr>
        <p:spPr>
          <a:xfrm>
            <a:off x="10463521" y="7874090"/>
            <a:ext cx="1215574" cy="1262941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rgbClr val="240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452" name="Google Shape;452;p26"/>
          <p:cNvSpPr/>
          <p:nvPr/>
        </p:nvSpPr>
        <p:spPr>
          <a:xfrm>
            <a:off x="10476220" y="4359646"/>
            <a:ext cx="1215574" cy="1262941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rgbClr val="240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453" name="Google Shape;453;p26"/>
          <p:cNvSpPr txBox="1"/>
          <p:nvPr/>
        </p:nvSpPr>
        <p:spPr>
          <a:xfrm>
            <a:off x="1172291" y="3320194"/>
            <a:ext cx="354456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Logic Flow</a:t>
            </a:r>
            <a:endParaRPr sz="3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ue and white logo&#10;&#10;Description automatically generated" id="454" name="Google Shape;45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26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456" name="Google Shape;456;p26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457" name="Google Shape;457;p26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" name="Google Shape;458;p2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" name="Google Shape;459;p26"/>
          <p:cNvGrpSpPr/>
          <p:nvPr/>
        </p:nvGrpSpPr>
        <p:grpSpPr>
          <a:xfrm>
            <a:off x="16092687" y="1979148"/>
            <a:ext cx="1892038" cy="1892038"/>
            <a:chOff x="0" y="0"/>
            <a:chExt cx="812800" cy="812800"/>
          </a:xfrm>
        </p:grpSpPr>
        <p:sp>
          <p:nvSpPr>
            <p:cNvPr id="460" name="Google Shape;460;p26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1" name="Google Shape;461;p2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215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2" name="Google Shape;462;p26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27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7"/>
          <p:cNvSpPr txBox="1"/>
          <p:nvPr/>
        </p:nvSpPr>
        <p:spPr>
          <a:xfrm>
            <a:off x="-499498" y="1957178"/>
            <a:ext cx="14152523" cy="4835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7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15</a:t>
            </a:r>
            <a:endParaRPr/>
          </a:p>
        </p:txBody>
      </p:sp>
      <p:sp>
        <p:nvSpPr>
          <p:cNvPr id="470" name="Google Shape;470;p27"/>
          <p:cNvSpPr txBox="1"/>
          <p:nvPr/>
        </p:nvSpPr>
        <p:spPr>
          <a:xfrm>
            <a:off x="5150546" y="184899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Change</a:t>
            </a:r>
            <a:endParaRPr/>
          </a:p>
        </p:txBody>
      </p:sp>
      <p:sp>
        <p:nvSpPr>
          <p:cNvPr id="471" name="Google Shape;471;p27"/>
          <p:cNvSpPr txBox="1"/>
          <p:nvPr/>
        </p:nvSpPr>
        <p:spPr>
          <a:xfrm>
            <a:off x="6589147" y="2699917"/>
            <a:ext cx="4433705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Password</a:t>
            </a:r>
            <a:endParaRPr/>
          </a:p>
        </p:txBody>
      </p:sp>
      <p:pic>
        <p:nvPicPr>
          <p:cNvPr descr="A screenshot of a login box&#10;&#10;Description automatically generated" id="472" name="Google Shape;47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55429" y="3749975"/>
            <a:ext cx="6901139" cy="5934023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p27"/>
          <p:cNvSpPr/>
          <p:nvPr/>
        </p:nvSpPr>
        <p:spPr>
          <a:xfrm>
            <a:off x="7010400" y="8648701"/>
            <a:ext cx="3779520" cy="824324"/>
          </a:xfrm>
          <a:prstGeom prst="ellipse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4" name="Google Shape;474;p27"/>
          <p:cNvCxnSpPr/>
          <p:nvPr/>
        </p:nvCxnSpPr>
        <p:spPr>
          <a:xfrm flipH="1">
            <a:off x="10645728" y="8068163"/>
            <a:ext cx="1671534" cy="877273"/>
          </a:xfrm>
          <a:prstGeom prst="straightConnector1">
            <a:avLst/>
          </a:prstGeom>
          <a:noFill/>
          <a:ln cap="flat" cmpd="sng" w="139700">
            <a:solidFill>
              <a:srgbClr val="FF0000"/>
            </a:solidFill>
            <a:prstDash val="solid"/>
            <a:round/>
            <a:headEnd len="sm" w="sm" type="none"/>
            <a:tailEnd len="med" w="med" type="triangle"/>
          </a:ln>
        </p:spPr>
      </p:cxnSp>
      <p:pic>
        <p:nvPicPr>
          <p:cNvPr descr="A blue and white logo&#10;&#10;Description automatically generated" id="475" name="Google Shape;475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27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477" name="Google Shape;477;p27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478" name="Google Shape;478;p27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9" name="Google Shape;479;p2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0" name="Google Shape;480;p27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481" name="Google Shape;481;p27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2" name="Google Shape;482;p2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3" name="Google Shape;483;p27"/>
          <p:cNvGrpSpPr/>
          <p:nvPr/>
        </p:nvGrpSpPr>
        <p:grpSpPr>
          <a:xfrm>
            <a:off x="16092687" y="1979148"/>
            <a:ext cx="1892038" cy="1892038"/>
            <a:chOff x="0" y="0"/>
            <a:chExt cx="812800" cy="812800"/>
          </a:xfrm>
        </p:grpSpPr>
        <p:sp>
          <p:nvSpPr>
            <p:cNvPr id="484" name="Google Shape;484;p27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5" name="Google Shape;485;p2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215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6" name="Google Shape;486;p27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28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92" name="Google Shape;492;p28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493" name="Google Shape;493;p28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4" name="Google Shape;494;p2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95" name="Google Shape;495;p28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496" name="Google Shape;496;p28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7" name="Google Shape;497;p2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98" name="Google Shape;498;p28"/>
          <p:cNvGrpSpPr/>
          <p:nvPr/>
        </p:nvGrpSpPr>
        <p:grpSpPr>
          <a:xfrm>
            <a:off x="16092687" y="1979148"/>
            <a:ext cx="1892038" cy="1892038"/>
            <a:chOff x="0" y="0"/>
            <a:chExt cx="812800" cy="812800"/>
          </a:xfrm>
        </p:grpSpPr>
        <p:sp>
          <p:nvSpPr>
            <p:cNvPr id="499" name="Google Shape;499;p28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0" name="Google Shape;500;p2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215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1" name="Google Shape;501;p28"/>
          <p:cNvSpPr txBox="1"/>
          <p:nvPr/>
        </p:nvSpPr>
        <p:spPr>
          <a:xfrm>
            <a:off x="-499498" y="1957178"/>
            <a:ext cx="14152523" cy="4835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28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16</a:t>
            </a:r>
            <a:endParaRPr/>
          </a:p>
        </p:txBody>
      </p:sp>
      <p:pic>
        <p:nvPicPr>
          <p:cNvPr descr="A blue and white logo&#10;&#10;Description automatically generated" id="503" name="Google Shape;503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28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05" name="Google Shape;505;p28"/>
          <p:cNvSpPr txBox="1"/>
          <p:nvPr/>
        </p:nvSpPr>
        <p:spPr>
          <a:xfrm>
            <a:off x="5150546" y="184899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Free-Spot</a:t>
            </a:r>
            <a:endParaRPr/>
          </a:p>
        </p:txBody>
      </p:sp>
      <p:sp>
        <p:nvSpPr>
          <p:cNvPr id="506" name="Google Shape;506;p28"/>
          <p:cNvSpPr txBox="1"/>
          <p:nvPr/>
        </p:nvSpPr>
        <p:spPr>
          <a:xfrm>
            <a:off x="6241450" y="2699917"/>
            <a:ext cx="5129101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Notification</a:t>
            </a:r>
            <a:endParaRPr/>
          </a:p>
        </p:txBody>
      </p:sp>
      <p:sp>
        <p:nvSpPr>
          <p:cNvPr id="507" name="Google Shape;507;p28"/>
          <p:cNvSpPr txBox="1"/>
          <p:nvPr/>
        </p:nvSpPr>
        <p:spPr>
          <a:xfrm>
            <a:off x="3856165" y="5600700"/>
            <a:ext cx="10575670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36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Students unknowingly miss the opportunity to join sold-out events because they are not alerted when a spot frees up later.</a:t>
            </a:r>
            <a:endParaRPr/>
          </a:p>
        </p:txBody>
      </p:sp>
      <p:pic>
        <p:nvPicPr>
          <p:cNvPr id="508" name="Google Shape;508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-938043">
            <a:off x="1061715" y="3682984"/>
            <a:ext cx="4429771" cy="2668868"/>
          </a:xfrm>
          <a:prstGeom prst="rect">
            <a:avLst/>
          </a:prstGeom>
          <a:noFill/>
          <a:ln>
            <a:noFill/>
          </a:ln>
        </p:spPr>
      </p:pic>
      <p:sp>
        <p:nvSpPr>
          <p:cNvPr id="509" name="Google Shape;509;p28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9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15" name="Google Shape;515;p29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516" name="Google Shape;516;p29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" name="Google Shape;517;p2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8" name="Google Shape;518;p29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519" name="Google Shape;519;p29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" name="Google Shape;520;p2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1" name="Google Shape;521;p29"/>
          <p:cNvGrpSpPr/>
          <p:nvPr/>
        </p:nvGrpSpPr>
        <p:grpSpPr>
          <a:xfrm>
            <a:off x="16092687" y="1979148"/>
            <a:ext cx="1892038" cy="1892038"/>
            <a:chOff x="0" y="0"/>
            <a:chExt cx="812800" cy="812800"/>
          </a:xfrm>
        </p:grpSpPr>
        <p:sp>
          <p:nvSpPr>
            <p:cNvPr id="522" name="Google Shape;522;p29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" name="Google Shape;523;p2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215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4" name="Google Shape;524;p29"/>
          <p:cNvSpPr txBox="1"/>
          <p:nvPr/>
        </p:nvSpPr>
        <p:spPr>
          <a:xfrm>
            <a:off x="-499498" y="1957178"/>
            <a:ext cx="14152523" cy="4835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9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17</a:t>
            </a:r>
            <a:endParaRPr/>
          </a:p>
        </p:txBody>
      </p:sp>
      <p:pic>
        <p:nvPicPr>
          <p:cNvPr descr="A blue and white logo&#10;&#10;Description automatically generated" id="526" name="Google Shape;526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29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28" name="Google Shape;528;p29"/>
          <p:cNvSpPr txBox="1"/>
          <p:nvPr/>
        </p:nvSpPr>
        <p:spPr>
          <a:xfrm>
            <a:off x="5150546" y="184899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Free-Spot</a:t>
            </a:r>
            <a:endParaRPr/>
          </a:p>
        </p:txBody>
      </p:sp>
      <p:sp>
        <p:nvSpPr>
          <p:cNvPr id="529" name="Google Shape;529;p29"/>
          <p:cNvSpPr txBox="1"/>
          <p:nvPr/>
        </p:nvSpPr>
        <p:spPr>
          <a:xfrm>
            <a:off x="6241450" y="2699917"/>
            <a:ext cx="5129101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Notification</a:t>
            </a:r>
            <a:endParaRPr/>
          </a:p>
        </p:txBody>
      </p:sp>
      <p:sp>
        <p:nvSpPr>
          <p:cNvPr id="530" name="Google Shape;530;p29"/>
          <p:cNvSpPr/>
          <p:nvPr/>
        </p:nvSpPr>
        <p:spPr>
          <a:xfrm rot="5400000">
            <a:off x="8546675" y="5525971"/>
            <a:ext cx="583264" cy="381011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409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9"/>
          <p:cNvSpPr/>
          <p:nvPr/>
        </p:nvSpPr>
        <p:spPr>
          <a:xfrm rot="5400000">
            <a:off x="8546675" y="7344729"/>
            <a:ext cx="583264" cy="381011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409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9"/>
          <p:cNvSpPr/>
          <p:nvPr/>
        </p:nvSpPr>
        <p:spPr>
          <a:xfrm>
            <a:off x="6077399" y="4164641"/>
            <a:ext cx="5368770" cy="1256320"/>
          </a:xfrm>
          <a:prstGeom prst="roundRect">
            <a:avLst>
              <a:gd fmla="val 50000" name="adj"/>
            </a:avLst>
          </a:prstGeom>
          <a:solidFill>
            <a:srgbClr val="7D81D6"/>
          </a:solidFill>
          <a:ln cap="flat" cmpd="sng" w="12700">
            <a:solidFill>
              <a:srgbClr val="00515C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400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Added a notification request button.</a:t>
            </a:r>
            <a:endParaRPr/>
          </a:p>
        </p:txBody>
      </p:sp>
      <p:sp>
        <p:nvSpPr>
          <p:cNvPr id="533" name="Google Shape;533;p29"/>
          <p:cNvSpPr/>
          <p:nvPr/>
        </p:nvSpPr>
        <p:spPr>
          <a:xfrm>
            <a:off x="6077399" y="4161330"/>
            <a:ext cx="1215574" cy="1262941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rgbClr val="240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534" name="Google Shape;534;p29"/>
          <p:cNvSpPr/>
          <p:nvPr/>
        </p:nvSpPr>
        <p:spPr>
          <a:xfrm>
            <a:off x="6077398" y="5990815"/>
            <a:ext cx="5368771" cy="1256320"/>
          </a:xfrm>
          <a:prstGeom prst="roundRect">
            <a:avLst>
              <a:gd fmla="val 50000" name="adj"/>
            </a:avLst>
          </a:prstGeom>
          <a:solidFill>
            <a:srgbClr val="7D81D6"/>
          </a:solidFill>
          <a:ln cap="flat" cmpd="sng" w="12700">
            <a:solidFill>
              <a:srgbClr val="00515C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400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student clicks it</a:t>
            </a:r>
            <a:endParaRPr/>
          </a:p>
        </p:txBody>
      </p:sp>
      <p:sp>
        <p:nvSpPr>
          <p:cNvPr id="535" name="Google Shape;535;p29"/>
          <p:cNvSpPr/>
          <p:nvPr/>
        </p:nvSpPr>
        <p:spPr>
          <a:xfrm>
            <a:off x="6077399" y="5987504"/>
            <a:ext cx="1215574" cy="1262941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rgbClr val="240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536" name="Google Shape;536;p29"/>
          <p:cNvSpPr/>
          <p:nvPr/>
        </p:nvSpPr>
        <p:spPr>
          <a:xfrm>
            <a:off x="6028580" y="7809848"/>
            <a:ext cx="5417590" cy="1256320"/>
          </a:xfrm>
          <a:prstGeom prst="roundRect">
            <a:avLst>
              <a:gd fmla="val 50000" name="adj"/>
            </a:avLst>
          </a:prstGeom>
          <a:solidFill>
            <a:srgbClr val="7D81D6"/>
          </a:solidFill>
          <a:ln cap="flat" cmpd="sng" w="12700">
            <a:solidFill>
              <a:srgbClr val="00515C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400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be notified as soon as a spot becomes available.</a:t>
            </a:r>
            <a:endParaRPr/>
          </a:p>
        </p:txBody>
      </p:sp>
      <p:sp>
        <p:nvSpPr>
          <p:cNvPr id="537" name="Google Shape;537;p29"/>
          <p:cNvSpPr/>
          <p:nvPr/>
        </p:nvSpPr>
        <p:spPr>
          <a:xfrm>
            <a:off x="6028580" y="7806537"/>
            <a:ext cx="1215574" cy="1262941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rgbClr val="2409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pic>
        <p:nvPicPr>
          <p:cNvPr descr="A light bulb with a bullet inside&#10;&#10;Description automatically generated" id="538" name="Google Shape;538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50103" y="3092933"/>
            <a:ext cx="2913933" cy="2913933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p29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30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45" name="Google Shape;545;p30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546" name="Google Shape;546;p30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7" name="Google Shape;547;p3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48" name="Google Shape;548;p30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549" name="Google Shape;549;p30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0" name="Google Shape;550;p3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1" name="Google Shape;551;p30"/>
          <p:cNvGrpSpPr/>
          <p:nvPr/>
        </p:nvGrpSpPr>
        <p:grpSpPr>
          <a:xfrm>
            <a:off x="16092687" y="1979148"/>
            <a:ext cx="1892038" cy="1892038"/>
            <a:chOff x="0" y="0"/>
            <a:chExt cx="812800" cy="812800"/>
          </a:xfrm>
        </p:grpSpPr>
        <p:sp>
          <p:nvSpPr>
            <p:cNvPr id="552" name="Google Shape;552;p30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3" name="Google Shape;553;p3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215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54" name="Google Shape;554;p30"/>
          <p:cNvSpPr txBox="1"/>
          <p:nvPr/>
        </p:nvSpPr>
        <p:spPr>
          <a:xfrm>
            <a:off x="-499498" y="1957178"/>
            <a:ext cx="14152523" cy="4835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30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18</a:t>
            </a:r>
            <a:endParaRPr/>
          </a:p>
        </p:txBody>
      </p:sp>
      <p:pic>
        <p:nvPicPr>
          <p:cNvPr descr="A blue and white logo&#10;&#10;Description automatically generated" id="556" name="Google Shape;556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30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8" name="Google Shape;558;p30"/>
          <p:cNvSpPr txBox="1"/>
          <p:nvPr/>
        </p:nvSpPr>
        <p:spPr>
          <a:xfrm>
            <a:off x="5150546" y="184899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Free-Spot</a:t>
            </a:r>
            <a:endParaRPr/>
          </a:p>
        </p:txBody>
      </p:sp>
      <p:sp>
        <p:nvSpPr>
          <p:cNvPr id="559" name="Google Shape;559;p30"/>
          <p:cNvSpPr txBox="1"/>
          <p:nvPr/>
        </p:nvSpPr>
        <p:spPr>
          <a:xfrm>
            <a:off x="6241450" y="2699917"/>
            <a:ext cx="5129101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Notification</a:t>
            </a:r>
            <a:endParaRPr/>
          </a:p>
        </p:txBody>
      </p:sp>
      <p:pic>
        <p:nvPicPr>
          <p:cNvPr descr="A green check mark in a circle&#10;&#10;Description automatically generated" id="560" name="Google Shape;560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24976" y="3924300"/>
            <a:ext cx="2562048" cy="1537229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30"/>
          <p:cNvSpPr/>
          <p:nvPr/>
        </p:nvSpPr>
        <p:spPr>
          <a:xfrm>
            <a:off x="1359091" y="5860589"/>
            <a:ext cx="4566540" cy="1731995"/>
          </a:xfrm>
          <a:prstGeom prst="roundRect">
            <a:avLst>
              <a:gd fmla="val 16667" name="adj"/>
            </a:avLst>
          </a:prstGeom>
          <a:solidFill>
            <a:srgbClr val="7D81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system validate that the event is currently at 100% capacity before enabling this feature.</a:t>
            </a:r>
            <a:endParaRPr/>
          </a:p>
        </p:txBody>
      </p:sp>
      <p:sp>
        <p:nvSpPr>
          <p:cNvPr id="562" name="Google Shape;562;p30"/>
          <p:cNvSpPr/>
          <p:nvPr/>
        </p:nvSpPr>
        <p:spPr>
          <a:xfrm>
            <a:off x="6369664" y="5892920"/>
            <a:ext cx="4566540" cy="1731995"/>
          </a:xfrm>
          <a:prstGeom prst="roundRect">
            <a:avLst>
              <a:gd fmla="val 16667" name="adj"/>
            </a:avLst>
          </a:prstGeom>
          <a:solidFill>
            <a:srgbClr val="7D81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Provides a backup opportunity to attend previously sold-out events.</a:t>
            </a:r>
            <a:endParaRPr/>
          </a:p>
        </p:txBody>
      </p:sp>
      <p:sp>
        <p:nvSpPr>
          <p:cNvPr id="563" name="Google Shape;563;p30"/>
          <p:cNvSpPr/>
          <p:nvPr/>
        </p:nvSpPr>
        <p:spPr>
          <a:xfrm>
            <a:off x="11380237" y="5892497"/>
            <a:ext cx="4566540" cy="1731995"/>
          </a:xfrm>
          <a:prstGeom prst="roundRect">
            <a:avLst>
              <a:gd fmla="val 16667" name="adj"/>
            </a:avLst>
          </a:prstGeom>
          <a:solidFill>
            <a:srgbClr val="7D81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Eliminates the need for students to repeatedly check for free spots.</a:t>
            </a:r>
            <a:endParaRPr/>
          </a:p>
        </p:txBody>
      </p:sp>
      <p:sp>
        <p:nvSpPr>
          <p:cNvPr id="564" name="Google Shape;564;p30"/>
          <p:cNvSpPr txBox="1"/>
          <p:nvPr/>
        </p:nvSpPr>
        <p:spPr>
          <a:xfrm>
            <a:off x="7256088" y="5346616"/>
            <a:ext cx="2793692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Second Chance</a:t>
            </a:r>
            <a:endParaRPr/>
          </a:p>
        </p:txBody>
      </p:sp>
      <p:sp>
        <p:nvSpPr>
          <p:cNvPr id="565" name="Google Shape;565;p30"/>
          <p:cNvSpPr txBox="1"/>
          <p:nvPr/>
        </p:nvSpPr>
        <p:spPr>
          <a:xfrm>
            <a:off x="1963165" y="5314489"/>
            <a:ext cx="3329758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Capacity Validation</a:t>
            </a:r>
            <a:endParaRPr/>
          </a:p>
        </p:txBody>
      </p:sp>
      <p:sp>
        <p:nvSpPr>
          <p:cNvPr id="566" name="Google Shape;566;p30"/>
          <p:cNvSpPr txBox="1"/>
          <p:nvPr/>
        </p:nvSpPr>
        <p:spPr>
          <a:xfrm>
            <a:off x="12019368" y="5346616"/>
            <a:ext cx="3165929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Zero Manual Effort</a:t>
            </a:r>
            <a:endParaRPr/>
          </a:p>
        </p:txBody>
      </p:sp>
      <p:sp>
        <p:nvSpPr>
          <p:cNvPr id="567" name="Google Shape;567;p30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31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3" name="Google Shape;573;p31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574" name="Google Shape;574;p31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5" name="Google Shape;575;p3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76" name="Google Shape;576;p31"/>
          <p:cNvGrpSpPr/>
          <p:nvPr/>
        </p:nvGrpSpPr>
        <p:grpSpPr>
          <a:xfrm>
            <a:off x="15422108" y="5233217"/>
            <a:ext cx="1256320" cy="1256320"/>
            <a:chOff x="0" y="0"/>
            <a:chExt cx="812800" cy="812800"/>
          </a:xfrm>
        </p:grpSpPr>
        <p:sp>
          <p:nvSpPr>
            <p:cNvPr id="577" name="Google Shape;577;p31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8" name="Google Shape;578;p3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79" name="Google Shape;579;p31"/>
          <p:cNvGrpSpPr/>
          <p:nvPr/>
        </p:nvGrpSpPr>
        <p:grpSpPr>
          <a:xfrm>
            <a:off x="16092687" y="1979148"/>
            <a:ext cx="1892038" cy="1892038"/>
            <a:chOff x="0" y="0"/>
            <a:chExt cx="812800" cy="812800"/>
          </a:xfrm>
        </p:grpSpPr>
        <p:sp>
          <p:nvSpPr>
            <p:cNvPr id="580" name="Google Shape;580;p31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1" name="Google Shape;581;p3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22158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82" name="Google Shape;582;p31"/>
          <p:cNvSpPr txBox="1"/>
          <p:nvPr/>
        </p:nvSpPr>
        <p:spPr>
          <a:xfrm>
            <a:off x="-499498" y="1957178"/>
            <a:ext cx="14152523" cy="483588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477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31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19</a:t>
            </a:r>
            <a:endParaRPr/>
          </a:p>
        </p:txBody>
      </p:sp>
      <p:pic>
        <p:nvPicPr>
          <p:cNvPr descr="A blue and white logo&#10;&#10;Description automatically generated" id="584" name="Google Shape;584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585" name="Google Shape;585;p31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86" name="Google Shape;586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743200" y="3543300"/>
            <a:ext cx="5516411" cy="614898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28390" y="3615334"/>
            <a:ext cx="5629275" cy="6076950"/>
          </a:xfrm>
          <a:prstGeom prst="rect">
            <a:avLst/>
          </a:prstGeom>
          <a:noFill/>
          <a:ln>
            <a:noFill/>
          </a:ln>
        </p:spPr>
      </p:pic>
      <p:sp>
        <p:nvSpPr>
          <p:cNvPr id="588" name="Google Shape;588;p31"/>
          <p:cNvSpPr txBox="1"/>
          <p:nvPr/>
        </p:nvSpPr>
        <p:spPr>
          <a:xfrm>
            <a:off x="5150546" y="1848992"/>
            <a:ext cx="7310908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Free-Spot</a:t>
            </a:r>
            <a:endParaRPr/>
          </a:p>
        </p:txBody>
      </p:sp>
      <p:sp>
        <p:nvSpPr>
          <p:cNvPr id="589" name="Google Shape;589;p31"/>
          <p:cNvSpPr txBox="1"/>
          <p:nvPr/>
        </p:nvSpPr>
        <p:spPr>
          <a:xfrm>
            <a:off x="6241450" y="2699917"/>
            <a:ext cx="5129101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Notification</a:t>
            </a:r>
            <a:endParaRPr/>
          </a:p>
        </p:txBody>
      </p:sp>
      <p:sp>
        <p:nvSpPr>
          <p:cNvPr id="590" name="Google Shape;590;p31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32"/>
          <p:cNvSpPr/>
          <p:nvPr/>
        </p:nvSpPr>
        <p:spPr>
          <a:xfrm>
            <a:off x="0" y="2306583"/>
            <a:ext cx="16774314" cy="7408078"/>
          </a:xfrm>
          <a:prstGeom prst="rect">
            <a:avLst/>
          </a:prstGeom>
          <a:gradFill>
            <a:gsLst>
              <a:gs pos="0">
                <a:srgbClr val="D9CFF3"/>
              </a:gs>
              <a:gs pos="83000">
                <a:srgbClr val="C7C9F0">
                  <a:alpha val="17647"/>
                </a:srgbClr>
              </a:gs>
              <a:gs pos="100000">
                <a:srgbClr val="EDE5FF">
                  <a:alpha val="38823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96" name="Google Shape;596;p32"/>
          <p:cNvGrpSpPr/>
          <p:nvPr/>
        </p:nvGrpSpPr>
        <p:grpSpPr>
          <a:xfrm>
            <a:off x="16774314" y="2306583"/>
            <a:ext cx="1892038" cy="1892038"/>
            <a:chOff x="0" y="0"/>
            <a:chExt cx="812800" cy="812800"/>
          </a:xfrm>
        </p:grpSpPr>
        <p:sp>
          <p:nvSpPr>
            <p:cNvPr id="597" name="Google Shape;597;p3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95686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8" name="Google Shape;598;p3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99" name="Google Shape;599;p32"/>
          <p:cNvGrpSpPr/>
          <p:nvPr/>
        </p:nvGrpSpPr>
        <p:grpSpPr>
          <a:xfrm>
            <a:off x="400540" y="1693375"/>
            <a:ext cx="1256320" cy="1256320"/>
            <a:chOff x="0" y="0"/>
            <a:chExt cx="812800" cy="812800"/>
          </a:xfrm>
        </p:grpSpPr>
        <p:sp>
          <p:nvSpPr>
            <p:cNvPr id="600" name="Google Shape;600;p3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1" name="Google Shape;601;p3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2" name="Google Shape;602;p32"/>
          <p:cNvGrpSpPr/>
          <p:nvPr/>
        </p:nvGrpSpPr>
        <p:grpSpPr>
          <a:xfrm>
            <a:off x="16294413" y="5282926"/>
            <a:ext cx="1256320" cy="1256320"/>
            <a:chOff x="0" y="0"/>
            <a:chExt cx="812800" cy="812800"/>
          </a:xfrm>
        </p:grpSpPr>
        <p:sp>
          <p:nvSpPr>
            <p:cNvPr id="603" name="Google Shape;603;p32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95686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4" name="Google Shape;604;p3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05" name="Google Shape;605;p32"/>
          <p:cNvSpPr txBox="1"/>
          <p:nvPr/>
        </p:nvSpPr>
        <p:spPr>
          <a:xfrm>
            <a:off x="16050268" y="9473025"/>
            <a:ext cx="724046" cy="242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  <p:sp>
        <p:nvSpPr>
          <p:cNvPr id="606" name="Google Shape;606;p32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20</a:t>
            </a:r>
            <a:endParaRPr/>
          </a:p>
        </p:txBody>
      </p:sp>
      <p:sp>
        <p:nvSpPr>
          <p:cNvPr id="607" name="Google Shape;607;p32"/>
          <p:cNvSpPr txBox="1"/>
          <p:nvPr/>
        </p:nvSpPr>
        <p:spPr>
          <a:xfrm>
            <a:off x="5966173" y="1938845"/>
            <a:ext cx="6355654" cy="7662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33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Conclusion</a:t>
            </a:r>
            <a:endParaRPr/>
          </a:p>
        </p:txBody>
      </p:sp>
      <p:pic>
        <p:nvPicPr>
          <p:cNvPr descr="A blue and white logo&#10;&#10;Description automatically generated" id="608" name="Google Shape;608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609" name="Google Shape;609;p32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0" name="Google Shape;610;p32"/>
          <p:cNvSpPr txBox="1"/>
          <p:nvPr/>
        </p:nvSpPr>
        <p:spPr>
          <a:xfrm>
            <a:off x="6984059" y="3466972"/>
            <a:ext cx="4319882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Key Deliverables</a:t>
            </a:r>
            <a:endParaRPr b="0" sz="3600">
              <a:solidFill>
                <a:srgbClr val="24096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32"/>
          <p:cNvSpPr txBox="1"/>
          <p:nvPr/>
        </p:nvSpPr>
        <p:spPr>
          <a:xfrm>
            <a:off x="633118" y="5387866"/>
            <a:ext cx="431988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Court Management</a:t>
            </a:r>
            <a:endParaRPr/>
          </a:p>
        </p:txBody>
      </p:sp>
      <p:sp>
        <p:nvSpPr>
          <p:cNvPr id="612" name="Google Shape;612;p32"/>
          <p:cNvSpPr/>
          <p:nvPr/>
        </p:nvSpPr>
        <p:spPr>
          <a:xfrm>
            <a:off x="4987708" y="4740519"/>
            <a:ext cx="863967" cy="897406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rgbClr val="2409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32"/>
          <p:cNvSpPr/>
          <p:nvPr/>
        </p:nvSpPr>
        <p:spPr>
          <a:xfrm flipH="1" rot="10800000">
            <a:off x="4987708" y="5604557"/>
            <a:ext cx="863967" cy="897406"/>
          </a:xfrm>
          <a:prstGeom prst="bentArrow">
            <a:avLst>
              <a:gd fmla="val 25000" name="adj1"/>
              <a:gd fmla="val 25000" name="adj2"/>
              <a:gd fmla="val 25000" name="adj3"/>
              <a:gd fmla="val 43750" name="adj4"/>
            </a:avLst>
          </a:prstGeom>
          <a:solidFill>
            <a:srgbClr val="2409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32"/>
          <p:cNvSpPr txBox="1"/>
          <p:nvPr/>
        </p:nvSpPr>
        <p:spPr>
          <a:xfrm>
            <a:off x="5999934" y="4656596"/>
            <a:ext cx="924791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Enabled the </a:t>
            </a:r>
            <a:r>
              <a:rPr b="1" lang="en-US" sz="28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Events Office </a:t>
            </a:r>
            <a:r>
              <a:rPr lang="en-US" sz="28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to dynamically create and list</a:t>
            </a:r>
            <a:endParaRPr/>
          </a:p>
        </p:txBody>
      </p:sp>
      <p:sp>
        <p:nvSpPr>
          <p:cNvPr id="615" name="Google Shape;615;p32"/>
          <p:cNvSpPr txBox="1"/>
          <p:nvPr/>
        </p:nvSpPr>
        <p:spPr>
          <a:xfrm>
            <a:off x="5999934" y="5978743"/>
            <a:ext cx="9887224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Enabled the </a:t>
            </a:r>
            <a:r>
              <a:rPr b="1" lang="en-US" sz="28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Students </a:t>
            </a:r>
            <a:r>
              <a:rPr lang="en-US" sz="28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to view and cancel court reservations in a seamless way.</a:t>
            </a:r>
            <a:endParaRPr/>
          </a:p>
        </p:txBody>
      </p:sp>
      <p:sp>
        <p:nvSpPr>
          <p:cNvPr id="616" name="Google Shape;616;p32"/>
          <p:cNvSpPr txBox="1"/>
          <p:nvPr/>
        </p:nvSpPr>
        <p:spPr>
          <a:xfrm>
            <a:off x="633118" y="8582680"/>
            <a:ext cx="431988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Free-Spot Notification</a:t>
            </a:r>
            <a:endParaRPr/>
          </a:p>
        </p:txBody>
      </p:sp>
      <p:sp>
        <p:nvSpPr>
          <p:cNvPr id="617" name="Google Shape;617;p32"/>
          <p:cNvSpPr/>
          <p:nvPr/>
        </p:nvSpPr>
        <p:spPr>
          <a:xfrm>
            <a:off x="5133332" y="8618452"/>
            <a:ext cx="648587" cy="43588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409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32"/>
          <p:cNvSpPr txBox="1"/>
          <p:nvPr/>
        </p:nvSpPr>
        <p:spPr>
          <a:xfrm>
            <a:off x="5993140" y="8577280"/>
            <a:ext cx="1023746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Automatically alerts </a:t>
            </a:r>
            <a:r>
              <a:rPr b="1" lang="en-US" sz="28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Students</a:t>
            </a:r>
            <a:r>
              <a:rPr lang="en-US" sz="28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 when space becomes available.</a:t>
            </a:r>
            <a:endParaRPr/>
          </a:p>
        </p:txBody>
      </p:sp>
      <p:sp>
        <p:nvSpPr>
          <p:cNvPr id="619" name="Google Shape;619;p32"/>
          <p:cNvSpPr txBox="1"/>
          <p:nvPr/>
        </p:nvSpPr>
        <p:spPr>
          <a:xfrm>
            <a:off x="1028700" y="7220856"/>
            <a:ext cx="3746921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Change Password</a:t>
            </a:r>
            <a:endParaRPr/>
          </a:p>
        </p:txBody>
      </p:sp>
      <p:sp>
        <p:nvSpPr>
          <p:cNvPr id="620" name="Google Shape;620;p32"/>
          <p:cNvSpPr/>
          <p:nvPr/>
        </p:nvSpPr>
        <p:spPr>
          <a:xfrm>
            <a:off x="5133332" y="7282132"/>
            <a:ext cx="648587" cy="435882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409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32"/>
          <p:cNvSpPr txBox="1"/>
          <p:nvPr/>
        </p:nvSpPr>
        <p:spPr>
          <a:xfrm>
            <a:off x="5943400" y="7188441"/>
            <a:ext cx="11160234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Added a "Forgot Password" workflow for instant access recovery for </a:t>
            </a:r>
            <a:r>
              <a:rPr b="1" lang="en-US" sz="28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All Users</a:t>
            </a:r>
            <a:r>
              <a:rPr lang="en-US" sz="2800">
                <a:solidFill>
                  <a:srgbClr val="24096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</p:txBody>
      </p:sp>
      <p:sp>
        <p:nvSpPr>
          <p:cNvPr id="622" name="Google Shape;622;p32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7" name="Google Shape;627;p33"/>
          <p:cNvGrpSpPr/>
          <p:nvPr/>
        </p:nvGrpSpPr>
        <p:grpSpPr>
          <a:xfrm>
            <a:off x="4889840" y="2149955"/>
            <a:ext cx="2999351" cy="2999351"/>
            <a:chOff x="0" y="0"/>
            <a:chExt cx="812800" cy="812800"/>
          </a:xfrm>
        </p:grpSpPr>
        <p:sp>
          <p:nvSpPr>
            <p:cNvPr id="628" name="Google Shape;628;p3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57647"/>
                  </a:srgbClr>
                </a:gs>
                <a:gs pos="100000">
                  <a:srgbClr val="F7ACFF">
                    <a:alpha val="57647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9" name="Google Shape;629;p3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30" name="Google Shape;630;p33"/>
          <p:cNvSpPr txBox="1"/>
          <p:nvPr/>
        </p:nvSpPr>
        <p:spPr>
          <a:xfrm>
            <a:off x="4132612" y="4409677"/>
            <a:ext cx="10022775" cy="14676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35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Questions?</a:t>
            </a:r>
            <a:endParaRPr/>
          </a:p>
        </p:txBody>
      </p:sp>
      <p:grpSp>
        <p:nvGrpSpPr>
          <p:cNvPr id="631" name="Google Shape;631;p33"/>
          <p:cNvGrpSpPr/>
          <p:nvPr/>
        </p:nvGrpSpPr>
        <p:grpSpPr>
          <a:xfrm rot="-7357214">
            <a:off x="10690988" y="3451709"/>
            <a:ext cx="1931597" cy="1931597"/>
            <a:chOff x="0" y="0"/>
            <a:chExt cx="812800" cy="812800"/>
          </a:xfrm>
        </p:grpSpPr>
        <p:sp>
          <p:nvSpPr>
            <p:cNvPr id="632" name="Google Shape;632;p33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57647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3" name="Google Shape;633;p3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34" name="Google Shape;634;p33"/>
          <p:cNvSpPr txBox="1"/>
          <p:nvPr/>
        </p:nvSpPr>
        <p:spPr>
          <a:xfrm>
            <a:off x="16050268" y="9473025"/>
            <a:ext cx="724046" cy="242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  <p:sp>
        <p:nvSpPr>
          <p:cNvPr id="635" name="Google Shape;635;p33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21</a:t>
            </a:r>
            <a:endParaRPr/>
          </a:p>
        </p:txBody>
      </p:sp>
      <p:pic>
        <p:nvPicPr>
          <p:cNvPr descr="A blue and white logo&#10;&#10;Description automatically generated" id="636" name="Google Shape;636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637" name="Google Shape;637;p33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38" name="Google Shape;638;p33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5FF"/>
        </a:solidFill>
      </p:bgPr>
    </p:bg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3" name="Google Shape;643;p34"/>
          <p:cNvGrpSpPr/>
          <p:nvPr/>
        </p:nvGrpSpPr>
        <p:grpSpPr>
          <a:xfrm>
            <a:off x="4889840" y="2149955"/>
            <a:ext cx="2999351" cy="2999351"/>
            <a:chOff x="0" y="0"/>
            <a:chExt cx="812800" cy="812800"/>
          </a:xfrm>
        </p:grpSpPr>
        <p:sp>
          <p:nvSpPr>
            <p:cNvPr id="644" name="Google Shape;644;p3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57647"/>
                  </a:srgbClr>
                </a:gs>
                <a:gs pos="100000">
                  <a:srgbClr val="F7ACFF">
                    <a:alpha val="57647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5" name="Google Shape;645;p3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46" name="Google Shape;646;p34"/>
          <p:cNvSpPr txBox="1"/>
          <p:nvPr/>
        </p:nvSpPr>
        <p:spPr>
          <a:xfrm>
            <a:off x="5233203" y="3316034"/>
            <a:ext cx="7055617" cy="1543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35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Thank</a:t>
            </a:r>
            <a:endParaRPr/>
          </a:p>
        </p:txBody>
      </p:sp>
      <p:sp>
        <p:nvSpPr>
          <p:cNvPr id="647" name="Google Shape;647;p34"/>
          <p:cNvSpPr txBox="1"/>
          <p:nvPr/>
        </p:nvSpPr>
        <p:spPr>
          <a:xfrm>
            <a:off x="6389516" y="4760679"/>
            <a:ext cx="4990576" cy="1543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35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You.</a:t>
            </a:r>
            <a:endParaRPr/>
          </a:p>
        </p:txBody>
      </p:sp>
      <p:grpSp>
        <p:nvGrpSpPr>
          <p:cNvPr id="648" name="Google Shape;648;p34"/>
          <p:cNvGrpSpPr/>
          <p:nvPr/>
        </p:nvGrpSpPr>
        <p:grpSpPr>
          <a:xfrm rot="-7357214">
            <a:off x="10690988" y="3451709"/>
            <a:ext cx="1931597" cy="1931597"/>
            <a:chOff x="0" y="0"/>
            <a:chExt cx="812800" cy="812800"/>
          </a:xfrm>
        </p:grpSpPr>
        <p:sp>
          <p:nvSpPr>
            <p:cNvPr id="649" name="Google Shape;649;p34"/>
            <p:cNvSpPr/>
            <p:nvPr/>
          </p:nvSpPr>
          <p:spPr>
            <a:xfrm>
              <a:off x="0" y="0"/>
              <a:ext cx="812800" cy="812800"/>
            </a:xfrm>
            <a:custGeom>
              <a:rect b="b" l="l" r="r" t="t"/>
              <a:pathLst>
                <a:path extrusionOk="0"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3C67BF">
                    <a:alpha val="57647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0" name="Google Shape;650;p3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1" name="Google Shape;651;p34"/>
          <p:cNvGrpSpPr/>
          <p:nvPr/>
        </p:nvGrpSpPr>
        <p:grpSpPr>
          <a:xfrm>
            <a:off x="-491235" y="7723424"/>
            <a:ext cx="19270471" cy="1213635"/>
            <a:chOff x="0" y="-38100"/>
            <a:chExt cx="5075350" cy="319640"/>
          </a:xfrm>
        </p:grpSpPr>
        <p:sp>
          <p:nvSpPr>
            <p:cNvPr id="652" name="Google Shape;652;p34"/>
            <p:cNvSpPr/>
            <p:nvPr/>
          </p:nvSpPr>
          <p:spPr>
            <a:xfrm>
              <a:off x="0" y="0"/>
              <a:ext cx="5075350" cy="281540"/>
            </a:xfrm>
            <a:custGeom>
              <a:rect b="b" l="l" r="r" t="t"/>
              <a:pathLst>
                <a:path extrusionOk="0" h="281540" w="5075350">
                  <a:moveTo>
                    <a:pt x="0" y="0"/>
                  </a:moveTo>
                  <a:lnTo>
                    <a:pt x="5075350" y="0"/>
                  </a:lnTo>
                  <a:lnTo>
                    <a:pt x="5075350" y="281540"/>
                  </a:lnTo>
                  <a:lnTo>
                    <a:pt x="0" y="281540"/>
                  </a:lnTo>
                  <a:close/>
                </a:path>
              </a:pathLst>
            </a:custGeom>
            <a:gradFill>
              <a:gsLst>
                <a:gs pos="0">
                  <a:srgbClr val="3C67BF">
                    <a:alpha val="22745"/>
                  </a:srgbClr>
                </a:gs>
                <a:gs pos="50000">
                  <a:srgbClr val="6B4CAF">
                    <a:alpha val="12941"/>
                  </a:srgbClr>
                </a:gs>
                <a:gs pos="100000">
                  <a:srgbClr val="F7AC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" name="Google Shape;653;p34"/>
            <p:cNvSpPr txBox="1"/>
            <p:nvPr/>
          </p:nvSpPr>
          <p:spPr>
            <a:xfrm>
              <a:off x="0" y="-38100"/>
              <a:ext cx="5075350" cy="319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54" name="Google Shape;654;p34"/>
          <p:cNvSpPr txBox="1"/>
          <p:nvPr/>
        </p:nvSpPr>
        <p:spPr>
          <a:xfrm>
            <a:off x="16050268" y="9473025"/>
            <a:ext cx="724046" cy="242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  <p:sp>
        <p:nvSpPr>
          <p:cNvPr id="655" name="Google Shape;655;p34"/>
          <p:cNvSpPr txBox="1"/>
          <p:nvPr/>
        </p:nvSpPr>
        <p:spPr>
          <a:xfrm>
            <a:off x="16774314" y="9473025"/>
            <a:ext cx="3546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22</a:t>
            </a:r>
            <a:endParaRPr/>
          </a:p>
        </p:txBody>
      </p:sp>
      <p:pic>
        <p:nvPicPr>
          <p:cNvPr descr="A blue and white logo&#10;&#10;Description automatically generated" id="656" name="Google Shape;656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3517" y="380220"/>
            <a:ext cx="939052" cy="1184698"/>
          </a:xfrm>
          <a:prstGeom prst="rect">
            <a:avLst/>
          </a:prstGeom>
          <a:noFill/>
          <a:ln>
            <a:noFill/>
          </a:ln>
        </p:spPr>
      </p:pic>
      <p:sp>
        <p:nvSpPr>
          <p:cNvPr id="657" name="Google Shape;657;p34"/>
          <p:cNvSpPr txBox="1"/>
          <p:nvPr/>
        </p:nvSpPr>
        <p:spPr>
          <a:xfrm>
            <a:off x="1390523" y="561438"/>
            <a:ext cx="1886077" cy="605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2277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112D"/>
                </a:solidFill>
                <a:latin typeface="Montserrat"/>
                <a:ea typeface="Montserrat"/>
                <a:cs typeface="Montserrat"/>
                <a:sym typeface="Montserrat"/>
              </a:rPr>
              <a:t>Tokeners</a:t>
            </a:r>
            <a:endParaRPr b="1" sz="6000">
              <a:solidFill>
                <a:srgbClr val="00112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8" name="Google Shape;658;p34"/>
          <p:cNvSpPr txBox="1"/>
          <p:nvPr/>
        </p:nvSpPr>
        <p:spPr>
          <a:xfrm>
            <a:off x="16050268" y="9473025"/>
            <a:ext cx="723900" cy="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20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21">
                <a:solidFill>
                  <a:srgbClr val="240960"/>
                </a:solidFill>
                <a:latin typeface="Montserrat"/>
                <a:ea typeface="Montserrat"/>
                <a:cs typeface="Montserrat"/>
                <a:sym typeface="Montserrat"/>
              </a:rPr>
              <a:t>Page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